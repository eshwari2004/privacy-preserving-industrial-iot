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92" r:id="rId2"/>
    <p:sldId id="325" r:id="rId3"/>
    <p:sldId id="258" r:id="rId4"/>
    <p:sldId id="260" r:id="rId5"/>
    <p:sldId id="296" r:id="rId6"/>
    <p:sldId id="297" r:id="rId7"/>
    <p:sldId id="294" r:id="rId8"/>
    <p:sldId id="295" r:id="rId9"/>
    <p:sldId id="328" r:id="rId10"/>
    <p:sldId id="326" r:id="rId11"/>
    <p:sldId id="327" r:id="rId12"/>
    <p:sldId id="329" r:id="rId13"/>
    <p:sldId id="298" r:id="rId14"/>
    <p:sldId id="306" r:id="rId15"/>
    <p:sldId id="307" r:id="rId16"/>
    <p:sldId id="308" r:id="rId17"/>
    <p:sldId id="309" r:id="rId18"/>
    <p:sldId id="293"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DBCC6C6-6FEF-466F-AD7C-8C64C8CBB1E1}">
          <p14:sldIdLst>
            <p14:sldId id="292"/>
            <p14:sldId id="325"/>
            <p14:sldId id="258"/>
            <p14:sldId id="260"/>
            <p14:sldId id="296"/>
            <p14:sldId id="297"/>
            <p14:sldId id="294"/>
          </p14:sldIdLst>
        </p14:section>
        <p14:section name="Untitled Section" id="{E0AA3057-F2AB-4020-91EF-D947B2F2019C}">
          <p14:sldIdLst>
            <p14:sldId id="295"/>
            <p14:sldId id="328"/>
            <p14:sldId id="326"/>
            <p14:sldId id="327"/>
            <p14:sldId id="329"/>
            <p14:sldId id="298"/>
            <p14:sldId id="306"/>
            <p14:sldId id="307"/>
            <p14:sldId id="308"/>
            <p14:sldId id="309"/>
            <p14:sldId id="293"/>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EBE7"/>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5" autoAdjust="0"/>
    <p:restoredTop sz="95033" autoAdjust="0"/>
  </p:normalViewPr>
  <p:slideViewPr>
    <p:cSldViewPr showGuides="1">
      <p:cViewPr varScale="1">
        <p:scale>
          <a:sx n="82" d="100"/>
          <a:sy n="82" d="100"/>
        </p:scale>
        <p:origin x="1411"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76E254-3447-4FED-BE5D-75E17F26FD2F}" type="datetimeFigureOut">
              <a:rPr lang="en-US" smtClean="0"/>
              <a:t>2/7/2026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A08021-A090-43BE-897C-F3D49A94E58B}" type="slidenum">
              <a:rPr lang="en-US" smtClean="0"/>
              <a:t>‹#›</a:t>
            </a:fld>
            <a:endParaRPr lang="en-US"/>
          </a:p>
        </p:txBody>
      </p:sp>
    </p:spTree>
    <p:extLst>
      <p:ext uri="{BB962C8B-B14F-4D97-AF65-F5344CB8AC3E}">
        <p14:creationId xmlns:p14="http://schemas.microsoft.com/office/powerpoint/2010/main" val="4151568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AA08021-A090-43BE-897C-F3D49A94E58B}" type="slidenum">
              <a:rPr lang="en-US" smtClean="0"/>
              <a:t>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A66BB061-AF84-4270-9FBA-8EDD5411C21D}" type="datetime1">
              <a:rPr lang="en-US" smtClean="0"/>
              <a:t>2/7/2026</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6979DFC9-49C2-472C-8164-27EAFCE086AB}"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F7A537B-3D2A-41A7-887E-DDDCF5426A3E}" type="datetime1">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79DFC9-49C2-472C-8164-27EAFCE086A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B1791C74-877E-49F8-B941-9026B163B97B}" type="datetime1">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79DFC9-49C2-472C-8164-27EAFCE086AB}"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A335CEB-89CD-44C2-A907-87836DC821F2}" type="datetime1">
              <a:rPr lang="en-US" smtClean="0"/>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79DFC9-49C2-472C-8164-27EAFCE086A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E8020CDA-1510-431B-A8FE-73296C3A58B0}" type="datetime1">
              <a:rPr lang="en-US" smtClean="0"/>
              <a:t>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979DFC9-49C2-472C-8164-27EAFCE086A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C314EA0A-73B9-4CC6-B9B7-D2779C8CFC68}" type="datetime1">
              <a:rPr lang="en-US" smtClean="0"/>
              <a:t>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979DFC9-49C2-472C-8164-27EAFCE086A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C10551-70BD-4797-B564-6D8B3136D577}" type="datetime1">
              <a:rPr lang="en-US" smtClean="0"/>
              <a:t>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979DFC9-49C2-472C-8164-27EAFCE086A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7E449535-4ADB-4D7B-B0D5-901A59FC2260}" type="datetime1">
              <a:rPr lang="en-US" smtClean="0"/>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79DFC9-49C2-472C-8164-27EAFCE086A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59667AB6-6597-4A22-84EE-6619C15CE88E}" type="datetime1">
              <a:rPr lang="en-US" smtClean="0"/>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6979DFC9-49C2-472C-8164-27EAFCE086AB}"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4632A51-99BB-4DCA-AB3F-A0572F499DDD}" type="datetime1">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79DFC9-49C2-472C-8164-27EAFCE086A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756F0F9-CBFC-4E5C-9903-82F3963A43BA}" type="datetime1">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79DFC9-49C2-472C-8164-27EAFCE086A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C4327F08-EEF5-4026-A47E-918A0F18DF9F}" type="datetime1">
              <a:rPr lang="en-US" smtClean="0"/>
              <a:t>2/7/2026</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6979DFC9-49C2-472C-8164-27EAFCE086AB}"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08025"/>
            <a:ext cx="9144000" cy="1806575"/>
          </a:xfrm>
        </p:spPr>
        <p:txBody>
          <a:bodyPr>
            <a:normAutofit fontScale="90000"/>
          </a:bodyPr>
          <a:lstStyle/>
          <a:p>
            <a:pPr algn="ctr" defTabSz="457200">
              <a:spcBef>
                <a:spcPts val="0"/>
              </a:spcBef>
              <a:defRPr/>
            </a:pPr>
            <a: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t>            </a:t>
            </a: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br>
              <a:rPr kumimoji="0" 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br>
            <a:r>
              <a:rPr kumimoji="0" lang="en-US" altLang="en-IN" sz="2000" b="1" i="0" u="none" strike="noStrike" kern="1200" cap="none" spc="0" normalizeH="0" baseline="0" noProof="0" dirty="0">
                <a:ln>
                  <a:noFill/>
                </a:ln>
                <a:solidFill>
                  <a:schemeClr val="tx1"/>
                </a:solidFill>
                <a:effectLst/>
                <a:uLnTx/>
                <a:uFillTx/>
                <a:latin typeface="Bookman Old Style" panose="02050604050505020204" pitchFamily="18" charset="0"/>
                <a:ea typeface="+mn-ea"/>
                <a:cs typeface="+mn-cs"/>
              </a:rPr>
              <a:t> </a:t>
            </a:r>
            <a:r>
              <a:rPr kumimoji="0" lang="en-IN" sz="2200" b="1" i="0" u="none" strike="noStrike" kern="1200" cap="none" spc="0" normalizeH="0" baseline="0" noProof="0" dirty="0">
                <a:ln>
                  <a:noFill/>
                </a:ln>
                <a:gradFill>
                  <a:gsLst>
                    <a:gs pos="0">
                      <a:srgbClr val="7B32B2"/>
                    </a:gs>
                    <a:gs pos="100000">
                      <a:srgbClr val="401A5D"/>
                    </a:gs>
                  </a:gsLst>
                  <a:lin scaled="0"/>
                </a:gradFill>
                <a:effectLst/>
                <a:uLnTx/>
                <a:uFillTx/>
                <a:latin typeface="Bookman Old Style" panose="02050604050505020204" pitchFamily="18" charset="0"/>
                <a:ea typeface="+mn-ea"/>
                <a:cs typeface="+mn-cs"/>
              </a:rPr>
              <a:t>MALLA REDDY COLLEGE OF ENGINEERING FOR WOMEN</a:t>
            </a:r>
            <a:r>
              <a:rPr kumimoji="0" lang="en-IN" sz="2000" b="1" i="0" u="none" strike="noStrike" kern="1200" cap="none" spc="0" normalizeH="0" baseline="0" noProof="0" dirty="0">
                <a:ln>
                  <a:noFill/>
                </a:ln>
                <a:gradFill>
                  <a:gsLst>
                    <a:gs pos="0">
                      <a:srgbClr val="012D86"/>
                    </a:gs>
                    <a:gs pos="100000">
                      <a:srgbClr val="0E2557"/>
                    </a:gs>
                  </a:gsLst>
                  <a:lin scaled="0"/>
                </a:gradFill>
                <a:effectLst/>
                <a:uLnTx/>
                <a:uFillTx/>
                <a:latin typeface="Bookman Old Style" panose="02050604050505020204" pitchFamily="18" charset="0"/>
                <a:ea typeface="+mn-ea"/>
                <a:cs typeface="+mn-cs"/>
              </a:rPr>
              <a:t> </a:t>
            </a:r>
            <a:r>
              <a:rPr kumimoji="0" u="none" strike="noStrike" cap="none" spc="0" normalizeH="0" baseline="0" dirty="0">
                <a:gradFill>
                  <a:gsLst>
                    <a:gs pos="0">
                      <a:srgbClr val="7B32B2"/>
                    </a:gs>
                    <a:gs pos="100000">
                      <a:srgbClr val="401A5D"/>
                    </a:gs>
                  </a:gsLst>
                  <a:lin scaled="0"/>
                </a:gradFill>
                <a:latin typeface="Bookman Old Style" panose="02050604050505020204" pitchFamily="18" charset="0"/>
              </a:rPr>
              <a:t> </a:t>
            </a:r>
            <a:br>
              <a:rPr kumimoji="0" u="none" strike="noStrike" cap="none" spc="0" normalizeH="0" baseline="0" dirty="0">
                <a:gradFill>
                  <a:gsLst>
                    <a:gs pos="0">
                      <a:srgbClr val="7B32B2"/>
                    </a:gs>
                    <a:gs pos="100000">
                      <a:srgbClr val="401A5D"/>
                    </a:gs>
                  </a:gsLst>
                  <a:lin scaled="0"/>
                </a:gradFill>
                <a:latin typeface="Bookman Old Style" panose="02050604050505020204" pitchFamily="18" charset="0"/>
              </a:rPr>
            </a:br>
            <a:r>
              <a:rPr kumimoji="0" sz="1800" b="1" u="none" strike="noStrike" cap="none" spc="0" normalizeH="0" baseline="0" dirty="0">
                <a:solidFill>
                  <a:srgbClr val="FF0000"/>
                </a:solidFill>
                <a:latin typeface="Bookman Old Style" panose="02050604050505020204" pitchFamily="18" charset="0"/>
              </a:rPr>
              <a:t>An UGC Autonomous Institution</a:t>
            </a:r>
            <a:br>
              <a:rPr kumimoji="0" sz="1800" b="1" u="none" strike="noStrike" cap="none" spc="0" normalizeH="0" baseline="0" dirty="0">
                <a:solidFill>
                  <a:srgbClr val="FF0000"/>
                </a:solidFill>
                <a:latin typeface="Bookman Old Style" panose="02050604050505020204" pitchFamily="18" charset="0"/>
              </a:rPr>
            </a:br>
            <a:r>
              <a:rPr kumimoji="0" sz="1555" b="1" i="1" u="none" strike="noStrike" cap="none" spc="0" normalizeH="0" baseline="0" dirty="0">
                <a:solidFill>
                  <a:schemeClr val="tx1"/>
                </a:solidFill>
                <a:latin typeface="Bookman Old Style" panose="02050604050505020204" pitchFamily="18" charset="0"/>
              </a:rPr>
              <a:t>Approved by AICTE New Delhi and Affiliated to JNTU</a:t>
            </a:r>
            <a:br>
              <a:rPr kumimoji="0" sz="1555" b="1" i="1" u="none" strike="noStrike" cap="none" spc="0" normalizeH="0" baseline="0" dirty="0">
                <a:solidFill>
                  <a:schemeClr val="tx1"/>
                </a:solidFill>
                <a:latin typeface="Bookman Old Style" panose="02050604050505020204" pitchFamily="18" charset="0"/>
              </a:rPr>
            </a:br>
            <a:r>
              <a:rPr kumimoji="0" sz="1555" b="1" i="1" u="none" strike="noStrike" cap="none" spc="0" normalizeH="0" baseline="0" dirty="0">
                <a:solidFill>
                  <a:schemeClr val="tx1"/>
                </a:solidFill>
                <a:latin typeface="Bookman Old Style" panose="02050604050505020204" pitchFamily="18" charset="0"/>
              </a:rPr>
              <a:t>An ISO 9001: 2015 Certified Institution</a:t>
            </a:r>
            <a:br>
              <a:rPr kumimoji="0" sz="1555" b="1" i="1" u="none" strike="noStrike" cap="none" spc="0" normalizeH="0" baseline="0" dirty="0">
                <a:solidFill>
                  <a:schemeClr val="tx1"/>
                </a:solidFill>
                <a:latin typeface="Bookman Old Style" panose="02050604050505020204" pitchFamily="18" charset="0"/>
              </a:rPr>
            </a:br>
            <a:r>
              <a:rPr kumimoji="0" sz="1555" b="1" i="1" u="none" strike="noStrike" cap="none" spc="0" normalizeH="0" baseline="0" dirty="0">
                <a:solidFill>
                  <a:schemeClr val="tx1"/>
                </a:solidFill>
                <a:latin typeface="Bookman Old Style" panose="02050604050505020204" pitchFamily="18" charset="0"/>
              </a:rPr>
              <a:t> </a:t>
            </a:r>
            <a:r>
              <a:rPr kumimoji="0" sz="1555" b="1" i="1" u="none" strike="noStrike" cap="none" spc="0" normalizeH="0" baseline="0" dirty="0">
                <a:solidFill>
                  <a:srgbClr val="0070C0"/>
                </a:solidFill>
                <a:latin typeface="Bookman Old Style" panose="02050604050505020204" pitchFamily="18" charset="0"/>
              </a:rPr>
              <a:t>Accredited by NBA and IIC 4-star Rating  </a:t>
            </a:r>
            <a:br>
              <a:rPr kumimoji="0" sz="1555" b="1" i="1" u="none" strike="noStrike" cap="none" spc="0" normalizeH="0" baseline="0" dirty="0">
                <a:solidFill>
                  <a:srgbClr val="0070C0"/>
                </a:solidFill>
                <a:latin typeface="Bookman Old Style" panose="02050604050505020204" pitchFamily="18" charset="0"/>
              </a:rPr>
            </a:br>
            <a:r>
              <a:rPr kumimoji="0" sz="1555" b="1" i="1" u="none" strike="noStrike" cap="none" spc="0" normalizeH="0" baseline="0" dirty="0">
                <a:solidFill>
                  <a:schemeClr val="tx1"/>
                </a:solidFill>
                <a:latin typeface="Bookman Old Style" panose="02050604050505020204" pitchFamily="18" charset="0"/>
              </a:rPr>
              <a:t>    </a:t>
            </a:r>
            <a:r>
              <a:rPr kumimoji="0" sz="1555" b="1" i="1" u="none" strike="noStrike" cap="none" spc="0" normalizeH="0" baseline="0" dirty="0">
                <a:solidFill>
                  <a:srgbClr val="00B050"/>
                </a:solidFill>
                <a:latin typeface="Bookman Old Style" panose="02050604050505020204" pitchFamily="18" charset="0"/>
              </a:rPr>
              <a:t> India Rankings 2023-NIRF Innovation  Band 151-300 </a:t>
            </a:r>
            <a:br>
              <a:rPr kumimoji="0" sz="1555" b="1" i="1" u="none" strike="noStrike" cap="none" spc="0" normalizeH="0" baseline="0" dirty="0">
                <a:solidFill>
                  <a:srgbClr val="00B050"/>
                </a:solidFill>
                <a:latin typeface="Bookman Old Style" panose="02050604050505020204" pitchFamily="18" charset="0"/>
              </a:rPr>
            </a:br>
            <a:r>
              <a:rPr kumimoji="0" sz="1555" b="1" i="1" u="none" strike="noStrike" cap="none" spc="0" normalizeH="0" baseline="0" dirty="0">
                <a:solidFill>
                  <a:schemeClr val="tx1"/>
                </a:solidFill>
                <a:latin typeface="Bookman Old Style" panose="02050604050505020204" pitchFamily="18" charset="0"/>
              </a:rPr>
              <a:t>	  Maisammaguda, Medchal (Dist), Hyderabad -500100, Telangana.</a:t>
            </a:r>
            <a:br>
              <a:rPr kumimoji="0" sz="1555" b="1" i="1" u="none" strike="noStrike" cap="none" spc="0" normalizeH="0" baseline="0" dirty="0">
                <a:solidFill>
                  <a:schemeClr val="tx1"/>
                </a:solidFill>
                <a:latin typeface="Bookman Old Style" panose="02050604050505020204" pitchFamily="18" charset="0"/>
              </a:rPr>
            </a:br>
            <a:r>
              <a:rPr kumimoji="0" sz="1555" b="1" i="1" u="none" strike="noStrike" cap="none" spc="0" normalizeH="0" baseline="0" dirty="0">
                <a:solidFill>
                  <a:schemeClr val="tx1"/>
                </a:solidFill>
                <a:latin typeface="Bookman Old Style" panose="02050604050505020204" pitchFamily="18" charset="0"/>
              </a:rPr>
              <a:t>	Tel:  9346118802     Email : rg.mrcew@gmail.com,    www.mrcew.ac.in </a:t>
            </a:r>
          </a:p>
        </p:txBody>
      </p:sp>
      <p:sp>
        <p:nvSpPr>
          <p:cNvPr id="3" name="Content Placeholder 2"/>
          <p:cNvSpPr>
            <a:spLocks noGrp="1"/>
          </p:cNvSpPr>
          <p:nvPr>
            <p:ph idx="1"/>
          </p:nvPr>
        </p:nvSpPr>
        <p:spPr>
          <a:xfrm>
            <a:off x="563245" y="2362200"/>
            <a:ext cx="8229600" cy="4389120"/>
          </a:xfrm>
        </p:spPr>
        <p:txBody>
          <a:bodyPr/>
          <a:lstStyle/>
          <a:p>
            <a:pPr marL="0" indent="0">
              <a:buNone/>
            </a:pPr>
            <a:r>
              <a:rPr kumimoji="0" lang="en-IN" sz="1600" b="1" i="0" u="none" strike="noStrike" kern="1200" cap="none" spc="0" normalizeH="0" baseline="0" noProof="0" dirty="0">
                <a:ln>
                  <a:noFill/>
                </a:ln>
                <a:effectLst/>
                <a:uLnTx/>
                <a:uFillTx/>
                <a:latin typeface="Bookman Old Style" panose="02050604050505020204" pitchFamily="18" charset="0"/>
                <a:ea typeface="+mn-ea"/>
                <a:cs typeface="+mn-cs"/>
              </a:rPr>
              <a:t>     </a:t>
            </a:r>
          </a:p>
          <a:p>
            <a:pPr marL="0" indent="0">
              <a:buNone/>
            </a:pPr>
            <a:r>
              <a:rPr kumimoji="0" lang="en-US" altLang="en-IN" sz="1600" b="1" i="0" u="none" strike="noStrike" kern="1200" cap="none" spc="0" normalizeH="0" baseline="0" noProof="0" dirty="0">
                <a:ln>
                  <a:noFill/>
                </a:ln>
                <a:solidFill>
                  <a:srgbClr val="FF0000"/>
                </a:solidFill>
                <a:effectLst/>
                <a:uLnTx/>
                <a:uFillTx/>
                <a:latin typeface="Bookman Old Style" panose="02050604050505020204" pitchFamily="18" charset="0"/>
                <a:ea typeface="+mn-ea"/>
                <a:cs typeface="+mn-cs"/>
              </a:rPr>
              <a:t>        </a:t>
            </a:r>
            <a:r>
              <a:rPr kumimoji="0" lang="en-IN" sz="1600" b="1" i="0" u="none" strike="noStrike" kern="1200" cap="none" spc="0" normalizeH="0" baseline="0" noProof="0" dirty="0">
                <a:ln>
                  <a:noFill/>
                </a:ln>
                <a:solidFill>
                  <a:srgbClr val="FF0000"/>
                </a:solidFill>
                <a:effectLst/>
                <a:uLnTx/>
                <a:uFillTx/>
                <a:latin typeface="Bookman Old Style" panose="02050604050505020204" pitchFamily="18" charset="0"/>
                <a:ea typeface="+mn-ea"/>
                <a:cs typeface="+mn-cs"/>
              </a:rPr>
              <a:t>DEPARTMENT OF </a:t>
            </a:r>
            <a:r>
              <a:rPr lang="en-IN" sz="1600" b="1" dirty="0">
                <a:solidFill>
                  <a:srgbClr val="FF0000"/>
                </a:solidFill>
                <a:latin typeface="Bookman Old Style" panose="02050604050505020204" pitchFamily="18" charset="0"/>
              </a:rPr>
              <a:t>COMPUTER SCIENCE AND</a:t>
            </a:r>
            <a:r>
              <a:rPr kumimoji="0" lang="en-IN" sz="1600" b="1" i="0" u="none" strike="noStrike" kern="1200" cap="none" spc="0" normalizeH="0" baseline="0" noProof="0" dirty="0">
                <a:ln>
                  <a:noFill/>
                </a:ln>
                <a:solidFill>
                  <a:srgbClr val="FF0000"/>
                </a:solidFill>
                <a:effectLst/>
                <a:uLnTx/>
                <a:uFillTx/>
                <a:latin typeface="Bookman Old Style" panose="02050604050505020204" pitchFamily="18" charset="0"/>
                <a:ea typeface="+mn-ea"/>
                <a:cs typeface="+mn-cs"/>
              </a:rPr>
              <a:t> ENGINEERING</a:t>
            </a:r>
          </a:p>
          <a:p>
            <a:pPr marL="0" indent="0">
              <a:buNone/>
            </a:pPr>
            <a:endParaRPr kumimoji="0" lang="en-IN" sz="1600" b="1" i="0" u="none" strike="noStrike" kern="1200" cap="none" spc="0" normalizeH="0" baseline="0" noProof="0" dirty="0">
              <a:ln>
                <a:noFill/>
              </a:ln>
              <a:solidFill>
                <a:srgbClr val="FF0000"/>
              </a:solidFill>
              <a:effectLst/>
              <a:uLnTx/>
              <a:uFillTx/>
              <a:latin typeface="Bookman Old Style" panose="02050604050505020204" pitchFamily="18" charset="0"/>
              <a:ea typeface="+mn-ea"/>
              <a:cs typeface="+mn-cs"/>
            </a:endParaRPr>
          </a:p>
        </p:txBody>
      </p:sp>
      <p:pic>
        <p:nvPicPr>
          <p:cNvPr id="4" name="Picture 4"/>
          <p:cNvPicPr>
            <a:picLocks noChangeAspect="1"/>
          </p:cNvPicPr>
          <p:nvPr/>
        </p:nvPicPr>
        <p:blipFill>
          <a:blip r:embed="rId2"/>
          <a:stretch>
            <a:fillRect/>
          </a:stretch>
        </p:blipFill>
        <p:spPr>
          <a:xfrm>
            <a:off x="228600" y="990547"/>
            <a:ext cx="954157" cy="1052248"/>
          </a:xfrm>
          <a:prstGeom prst="rect">
            <a:avLst/>
          </a:prstGeom>
        </p:spPr>
      </p:pic>
      <p:sp>
        <p:nvSpPr>
          <p:cNvPr id="7" name="TextBox 6"/>
          <p:cNvSpPr txBox="1"/>
          <p:nvPr/>
        </p:nvSpPr>
        <p:spPr>
          <a:xfrm>
            <a:off x="261620" y="3048000"/>
            <a:ext cx="8592185" cy="3254375"/>
          </a:xfrm>
          <a:prstGeom prst="rect">
            <a:avLst/>
          </a:prstGeom>
          <a:noFill/>
        </p:spPr>
        <p:txBody>
          <a:bodyPr wrap="square" rtlCol="0">
            <a:noAutofit/>
          </a:bodyPr>
          <a:lstStyle/>
          <a:p>
            <a:pPr lvl="0" algn="ctr" defTabSz="457200">
              <a:defRPr/>
            </a:pPr>
            <a:r>
              <a:rPr lang="en-IN" sz="2400" b="1">
                <a:solidFill>
                  <a:srgbClr val="00B050"/>
                </a:solidFill>
                <a:latin typeface="Bookman Old Style" panose="02050604050505020204" pitchFamily="18" charset="0"/>
              </a:rPr>
              <a:t>SECURE SENSE AI: </a:t>
            </a:r>
            <a:r>
              <a:rPr lang="en-IN" sz="2400" b="1" dirty="0">
                <a:solidFill>
                  <a:srgbClr val="00B050"/>
                </a:solidFill>
                <a:latin typeface="Bookman Old Style" panose="02050604050505020204" pitchFamily="18" charset="0"/>
              </a:rPr>
              <a:t>PRIVACY </a:t>
            </a:r>
            <a:r>
              <a:rPr lang="en-IN" sz="2400" b="1">
                <a:solidFill>
                  <a:srgbClr val="00B050"/>
                </a:solidFill>
                <a:latin typeface="Bookman Old Style" panose="02050604050505020204" pitchFamily="18" charset="0"/>
              </a:rPr>
              <a:t>PRESERVING MACHINE LEARNING FOR SMART INDUSTRY</a:t>
            </a:r>
            <a:endParaRPr lang="en-IN" sz="2400" b="1" dirty="0">
              <a:solidFill>
                <a:srgbClr val="00B050"/>
              </a:solidFill>
              <a:latin typeface="Bookman Old Style" panose="02050604050505020204" pitchFamily="18" charset="0"/>
            </a:endParaRPr>
          </a:p>
          <a:p>
            <a:pPr lvl="0" algn="ctr" defTabSz="457200">
              <a:defRPr/>
            </a:pPr>
            <a:endParaRPr lang="en-IN" sz="2400" b="1" dirty="0">
              <a:solidFill>
                <a:srgbClr val="00B050"/>
              </a:solidFill>
              <a:latin typeface="Bookman Old Style" panose="02050604050505020204" pitchFamily="18" charset="0"/>
            </a:endParaRPr>
          </a:p>
          <a:p>
            <a:pPr lvl="0" algn="ctr" defTabSz="457200">
              <a:defRPr/>
            </a:pPr>
            <a:r>
              <a:rPr lang="en-IN" sz="2400" b="1" dirty="0">
                <a:solidFill>
                  <a:srgbClr val="00B050"/>
                </a:solidFill>
                <a:latin typeface="Bookman Old Style" panose="02050604050505020204" pitchFamily="18" charset="0"/>
              </a:rPr>
              <a:t> </a:t>
            </a:r>
            <a:r>
              <a:rPr lang="en-IN" sz="2000" b="1" dirty="0">
                <a:solidFill>
                  <a:schemeClr val="tx1"/>
                </a:solidFill>
                <a:latin typeface="Bookman Old Style" panose="02050604050505020204" pitchFamily="18" charset="0"/>
              </a:rPr>
              <a:t>PRESENTED BY:                               UNDER GUIDANCE OF:</a:t>
            </a:r>
            <a:endParaRPr lang="en-IN" sz="2000" dirty="0">
              <a:solidFill>
                <a:schemeClr val="tx1"/>
              </a:solidFill>
              <a:latin typeface="Bookman Old Style" panose="020506040505050202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r>
              <a:rPr lang="en-IN" sz="1600" b="1" dirty="0">
                <a:latin typeface="Bookman Old Style" panose="02050604050505020204" pitchFamily="18" charset="0"/>
              </a:rPr>
              <a:t>     H.ESHWARI                    22RG1A0588</a:t>
            </a:r>
          </a:p>
          <a:p>
            <a:pPr marL="0" marR="0" lvl="0" indent="0" algn="l" defTabSz="457200" rtl="0" eaLnBrk="1" fontAlgn="auto" latinLnBrk="0" hangingPunct="1">
              <a:lnSpc>
                <a:spcPct val="100000"/>
              </a:lnSpc>
              <a:spcBef>
                <a:spcPts val="0"/>
              </a:spcBef>
              <a:spcAft>
                <a:spcPts val="0"/>
              </a:spcAft>
              <a:buClrTx/>
              <a:buSzTx/>
              <a:buFontTx/>
              <a:buNone/>
              <a:defRPr/>
            </a:pPr>
            <a:r>
              <a:rPr lang="en-IN" sz="1600" b="1" dirty="0">
                <a:latin typeface="Bookman Old Style" panose="02050604050505020204" pitchFamily="18" charset="0"/>
              </a:rPr>
              <a:t>     M.SRAVANI                    22RG1A05A4                  </a:t>
            </a:r>
            <a:r>
              <a:rPr lang="en-IN" sz="1600" b="1" dirty="0" err="1">
                <a:latin typeface="Bookman Old Style" panose="02050604050505020204" pitchFamily="18" charset="0"/>
              </a:rPr>
              <a:t>Mrs.SUNEETA</a:t>
            </a:r>
            <a:r>
              <a:rPr lang="en-IN" sz="1600" b="1" dirty="0">
                <a:latin typeface="Bookman Old Style" panose="02050604050505020204" pitchFamily="18" charset="0"/>
              </a:rPr>
              <a:t>     </a:t>
            </a:r>
          </a:p>
          <a:p>
            <a:pPr marL="0" marR="0" lvl="0" indent="0" algn="l" defTabSz="457200" rtl="0" eaLnBrk="1" fontAlgn="auto" latinLnBrk="0" hangingPunct="1">
              <a:lnSpc>
                <a:spcPct val="100000"/>
              </a:lnSpc>
              <a:spcBef>
                <a:spcPts val="0"/>
              </a:spcBef>
              <a:spcAft>
                <a:spcPts val="0"/>
              </a:spcAft>
              <a:buClrTx/>
              <a:buSzTx/>
              <a:buFontTx/>
              <a:buNone/>
              <a:defRPr/>
            </a:pPr>
            <a:r>
              <a:rPr lang="en-IN" sz="1600" b="1" dirty="0">
                <a:latin typeface="Bookman Old Style" panose="02050604050505020204" pitchFamily="18" charset="0"/>
              </a:rPr>
              <a:t>     P.ALEKHYA                    22RG1A05B0</a:t>
            </a:r>
          </a:p>
          <a:p>
            <a:pPr marL="0" marR="0" lvl="0" indent="0" algn="l" defTabSz="457200" rtl="0" eaLnBrk="1" fontAlgn="auto" latinLnBrk="0" hangingPunct="1">
              <a:lnSpc>
                <a:spcPct val="100000"/>
              </a:lnSpc>
              <a:spcBef>
                <a:spcPts val="0"/>
              </a:spcBef>
              <a:spcAft>
                <a:spcPts val="0"/>
              </a:spcAft>
              <a:buClrTx/>
              <a:buSzTx/>
              <a:buFontTx/>
              <a:buNone/>
              <a:defRPr/>
            </a:pPr>
            <a:r>
              <a:rPr lang="en-IN" sz="1600" b="1" dirty="0">
                <a:latin typeface="Bookman Old Style" panose="02050604050505020204" pitchFamily="18" charset="0"/>
              </a:rPr>
              <a:t>     S.CHANDRAKALA           22RG5A05C0       </a:t>
            </a:r>
          </a:p>
          <a:p>
            <a:pPr defTabSz="457200">
              <a:defRPr/>
            </a:pPr>
            <a:r>
              <a:rPr lang="en-IN" sz="1600" b="1" dirty="0">
                <a:latin typeface="Bookman Old Style" panose="02050604050505020204" pitchFamily="18" charset="0"/>
              </a:rPr>
              <a:t>                                                               </a:t>
            </a:r>
          </a:p>
          <a:p>
            <a:pPr marL="0" marR="0" lvl="0" indent="0" algn="l" defTabSz="457200" rtl="0" eaLnBrk="1" fontAlgn="auto" latinLnBrk="0" hangingPunct="1">
              <a:lnSpc>
                <a:spcPct val="100000"/>
              </a:lnSpc>
              <a:spcBef>
                <a:spcPts val="0"/>
              </a:spcBef>
              <a:spcAft>
                <a:spcPts val="0"/>
              </a:spcAft>
              <a:buClrTx/>
              <a:buSzTx/>
              <a:buFontTx/>
              <a:buNone/>
              <a:defRPr/>
            </a:pPr>
            <a:r>
              <a:rPr lang="en-IN" sz="1600" b="1" dirty="0">
                <a:latin typeface="Bookman Old Style" panose="02050604050505020204" pitchFamily="18" charset="0"/>
              </a:rPr>
              <a:t>                                                       </a:t>
            </a:r>
          </a:p>
          <a:p>
            <a:pPr marL="0" marR="0" lvl="0" indent="0" algn="l" defTabSz="457200" rtl="0" eaLnBrk="1" fontAlgn="auto" latinLnBrk="0" hangingPunct="1">
              <a:lnSpc>
                <a:spcPct val="100000"/>
              </a:lnSpc>
              <a:spcBef>
                <a:spcPts val="0"/>
              </a:spcBef>
              <a:spcAft>
                <a:spcPts val="0"/>
              </a:spcAft>
              <a:buClrTx/>
              <a:buSzTx/>
              <a:buFontTx/>
              <a:buNone/>
              <a:defRPr/>
            </a:pPr>
            <a:endParaRPr lang="en-IN" sz="2000" b="1" dirty="0">
              <a:latin typeface="Bookman Old Style" panose="020506040505050202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endParaRPr lang="en-IN" sz="2400" b="1" dirty="0">
              <a:latin typeface="Bookman Old Style" panose="020506040505050202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endParaRPr lang="en-IN" sz="2400" b="1" dirty="0">
              <a:latin typeface="Bookman Old Style" panose="020506040505050202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endParaRPr lang="en-IN" b="1" dirty="0">
              <a:latin typeface="Bookman Old Style" panose="020506040505050202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endParaRPr lang="en-IN" b="1" dirty="0">
              <a:latin typeface="Bookman Old Style" panose="020506040505050202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endParaRPr lang="en-IN" b="1" dirty="0">
              <a:solidFill>
                <a:prstClr val="white"/>
              </a:solidFill>
              <a:latin typeface="Bookman Old Style" panose="020506040505050202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endParaRPr lang="en-IN" b="1" dirty="0">
              <a:solidFill>
                <a:prstClr val="white"/>
              </a:solidFill>
              <a:latin typeface="Bookman Old Style" panose="020506040505050202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endParaRPr lang="en-IN" b="1" dirty="0">
              <a:solidFill>
                <a:prstClr val="white"/>
              </a:solidFill>
              <a:latin typeface="Bookman Old Style" panose="020506040505050202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endParaRPr lang="en-IN" b="1" dirty="0">
              <a:solidFill>
                <a:schemeClr val="accent1">
                  <a:lumMod val="60000"/>
                  <a:lumOff val="40000"/>
                </a:schemeClr>
              </a:solidFill>
              <a:latin typeface="Bookman Old Style" panose="020506040505050202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endParaRPr lang="en-IN" b="1" dirty="0">
              <a:solidFill>
                <a:prstClr val="white"/>
              </a:solidFill>
              <a:latin typeface="Bookman Old Style" panose="020506040505050202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endParaRPr lang="en-IN" b="1" dirty="0">
              <a:solidFill>
                <a:prstClr val="white"/>
              </a:solidFill>
              <a:latin typeface="Bookman Old Style" panose="020506040505050202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endParaRPr lang="en-IN" b="1" dirty="0">
              <a:solidFill>
                <a:prstClr val="white"/>
              </a:solidFill>
              <a:latin typeface="Bookman Old Style" panose="020506040505050202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endParaRPr lang="en-IN" b="1" dirty="0">
              <a:solidFill>
                <a:prstClr val="white"/>
              </a:solidFill>
              <a:latin typeface="Bookman Old Style" panose="020506040505050202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endParaRPr lang="en-IN" b="1" dirty="0">
              <a:solidFill>
                <a:prstClr val="white"/>
              </a:solidFill>
              <a:latin typeface="Bookman Old Style" panose="020506040505050202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endParaRPr lang="en-IN" b="1" dirty="0">
              <a:solidFill>
                <a:prstClr val="white"/>
              </a:solidFill>
              <a:latin typeface="Bookman Old Style" panose="020506040505050202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IN" sz="1800" b="1" i="0" u="none" strike="noStrike" kern="1200" cap="none" spc="0" normalizeH="0" baseline="0" noProof="0" dirty="0">
              <a:ln>
                <a:noFill/>
              </a:ln>
              <a:solidFill>
                <a:prstClr val="white"/>
              </a:solidFill>
              <a:effectLst/>
              <a:uLnTx/>
              <a:uFillTx/>
              <a:latin typeface="Bookman Old Style" panose="02050604050505020204" pitchFamily="18"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IN" sz="1800" b="1" i="0" u="none" strike="noStrike" kern="1200" cap="none" spc="0" normalizeH="0" baseline="0" noProof="0" dirty="0">
              <a:ln>
                <a:noFill/>
              </a:ln>
              <a:effectLst/>
              <a:uLnTx/>
              <a:uFillTx/>
              <a:latin typeface="Bookman Old Style" panose="02050604050505020204" pitchFamily="18" charset="0"/>
              <a:ea typeface="+mn-ea"/>
              <a:cs typeface="+mn-cs"/>
            </a:endParaRPr>
          </a:p>
        </p:txBody>
      </p:sp>
      <p:sp>
        <p:nvSpPr>
          <p:cNvPr id="9" name="Slide Number Placeholder 8"/>
          <p:cNvSpPr>
            <a:spLocks noGrp="1"/>
          </p:cNvSpPr>
          <p:nvPr>
            <p:ph type="sldNum" sz="quarter" idx="12"/>
          </p:nvPr>
        </p:nvSpPr>
        <p:spPr/>
        <p:txBody>
          <a:bodyPr/>
          <a:lstStyle/>
          <a:p>
            <a:fld id="{6979DFC9-49C2-472C-8164-27EAFCE086AB}" type="slidenum">
              <a:rPr lang="en-US" smtClean="0"/>
              <a:t>1</a:t>
            </a:fld>
            <a:endParaRPr lang="en-US"/>
          </a:p>
        </p:txBody>
      </p:sp>
      <p:sp>
        <p:nvSpPr>
          <p:cNvPr id="5" name="Text Box 2"/>
          <p:cNvSpPr txBox="1"/>
          <p:nvPr/>
        </p:nvSpPr>
        <p:spPr>
          <a:xfrm>
            <a:off x="7924800" y="1028065"/>
            <a:ext cx="1068070" cy="938530"/>
          </a:xfrm>
          <a:prstGeom prst="rect">
            <a:avLst/>
          </a:prstGeom>
          <a:solidFill>
            <a:sysClr val="window" lastClr="FFFFFF"/>
          </a:solidFill>
          <a:ln w="6350">
            <a:solidFill>
              <a:prstClr val="black"/>
            </a:solid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15000"/>
              </a:lnSpc>
              <a:spcAft>
                <a:spcPts val="0"/>
              </a:spcAft>
            </a:pPr>
            <a:r>
              <a:rPr lang="en-US" altLang="zh-CN" sz="1200" b="1" u="sng" kern="100" dirty="0">
                <a:latin typeface="Calibri" panose="020F0502020204030204"/>
                <a:ea typeface="Calibri" panose="020F0502020204030204"/>
                <a:cs typeface="Times New Roman" panose="02020603050405020304"/>
                <a:sym typeface="Times New Roman" panose="02020603050405020304"/>
              </a:rPr>
              <a:t>EAMCET Code:</a:t>
            </a:r>
            <a:r>
              <a:rPr lang="en-US" altLang="zh-CN" sz="1200" kern="100" dirty="0">
                <a:latin typeface="Calibri" panose="020F0502020204030204"/>
                <a:ea typeface="Calibri" panose="020F0502020204030204"/>
                <a:cs typeface="Times New Roman" panose="02020603050405020304"/>
                <a:sym typeface="Times New Roman" panose="02020603050405020304"/>
              </a:rPr>
              <a:t> </a:t>
            </a:r>
            <a:r>
              <a:rPr lang="en-US" altLang="zh-CN" sz="1200" b="1" kern="100" dirty="0">
                <a:latin typeface="Calibri" panose="020F0502020204030204"/>
                <a:ea typeface="Calibri" panose="020F0502020204030204"/>
                <a:cs typeface="Times New Roman" panose="02020603050405020304"/>
                <a:sym typeface="Times New Roman" panose="02020603050405020304"/>
              </a:rPr>
              <a:t>MREW</a:t>
            </a:r>
          </a:p>
          <a:p>
            <a:pPr algn="ctr">
              <a:lnSpc>
                <a:spcPct val="115000"/>
              </a:lnSpc>
              <a:spcAft>
                <a:spcPts val="0"/>
              </a:spcAft>
            </a:pPr>
            <a:r>
              <a:rPr lang="en-US" altLang="zh-CN" sz="1200" kern="100" dirty="0">
                <a:latin typeface="Calibri" panose="020F0502020204030204"/>
                <a:ea typeface="Calibri" panose="020F0502020204030204"/>
                <a:cs typeface="Times New Roman" panose="02020603050405020304"/>
                <a:sym typeface="Times New Roman" panose="02020603050405020304"/>
              </a:rPr>
              <a:t>JNTUH Code: </a:t>
            </a:r>
            <a:r>
              <a:rPr lang="en-US" altLang="zh-CN" sz="1200" b="1" kern="100" dirty="0">
                <a:latin typeface="Calibri" panose="020F0502020204030204"/>
                <a:ea typeface="Calibri" panose="020F0502020204030204"/>
                <a:cs typeface="Times New Roman" panose="02020603050405020304"/>
                <a:sym typeface="Times New Roman" panose="02020603050405020304"/>
              </a:rPr>
              <a:t>RG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832485"/>
          </a:xfrm>
        </p:spPr>
        <p:txBody>
          <a:bodyPr/>
          <a:lstStyle/>
          <a:p>
            <a:r>
              <a:rPr lang="en-US" sz="3200" b="1" dirty="0">
                <a:solidFill>
                  <a:schemeClr val="tx1">
                    <a:lumMod val="95000"/>
                    <a:lumOff val="5000"/>
                  </a:schemeClr>
                </a:solidFill>
                <a:latin typeface="Bookman Old Style" panose="02050604050505020204" pitchFamily="18" charset="0"/>
                <a:cs typeface="Times New Roman" panose="02020603050405020304" pitchFamily="18" charset="0"/>
              </a:rPr>
              <a:t>CONTENT</a:t>
            </a:r>
            <a:endParaRPr lang="en-ID" dirty="0">
              <a:latin typeface="Bookman Old Style" panose="02050604050505020204" pitchFamily="18" charset="0"/>
            </a:endParaRPr>
          </a:p>
        </p:txBody>
      </p:sp>
      <p:sp>
        <p:nvSpPr>
          <p:cNvPr id="3" name="Content Placeholder 2"/>
          <p:cNvSpPr>
            <a:spLocks noGrp="1"/>
          </p:cNvSpPr>
          <p:nvPr>
            <p:ph idx="1"/>
          </p:nvPr>
        </p:nvSpPr>
        <p:spPr>
          <a:xfrm>
            <a:off x="457200" y="1546225"/>
            <a:ext cx="8229600" cy="4778375"/>
          </a:xfrm>
        </p:spPr>
        <p:txBody>
          <a:bodyPr>
            <a:normAutofit/>
          </a:bodyPr>
          <a:lstStyle/>
          <a:p>
            <a:r>
              <a:rPr lang="en-US" sz="1800" dirty="0">
                <a:latin typeface="Times New Roman" panose="02020603050405020304" pitchFamily="18" charset="0"/>
                <a:cs typeface="Times New Roman" panose="02020603050405020304" pitchFamily="18" charset="0"/>
              </a:rPr>
              <a:t>Abstract</a:t>
            </a:r>
          </a:p>
          <a:p>
            <a:r>
              <a:rPr lang="en-US" sz="1800" dirty="0">
                <a:latin typeface="Times New Roman" panose="02020603050405020304" pitchFamily="18" charset="0"/>
                <a:cs typeface="Times New Roman" panose="02020603050405020304" pitchFamily="18" charset="0"/>
              </a:rPr>
              <a:t>Introduction</a:t>
            </a:r>
          </a:p>
          <a:p>
            <a:r>
              <a:rPr lang="en-US" sz="1800" dirty="0">
                <a:latin typeface="Times New Roman" panose="02020603050405020304" pitchFamily="18" charset="0"/>
                <a:cs typeface="Times New Roman" panose="02020603050405020304" pitchFamily="18" charset="0"/>
              </a:rPr>
              <a:t>Existing System</a:t>
            </a:r>
          </a:p>
          <a:p>
            <a:r>
              <a:rPr lang="en-US" sz="1800" dirty="0">
                <a:latin typeface="Times New Roman" panose="02020603050405020304" pitchFamily="18" charset="0"/>
                <a:cs typeface="Times New Roman" panose="02020603050405020304" pitchFamily="18" charset="0"/>
              </a:rPr>
              <a:t>Proposed Method</a:t>
            </a:r>
          </a:p>
          <a:p>
            <a:r>
              <a:rPr lang="en-US" sz="1800" dirty="0">
                <a:latin typeface="Times New Roman" panose="02020603050405020304" pitchFamily="18" charset="0"/>
                <a:cs typeface="Times New Roman" panose="02020603050405020304" pitchFamily="18" charset="0"/>
              </a:rPr>
              <a:t>Hardware &amp; Software Requirements</a:t>
            </a:r>
          </a:p>
          <a:p>
            <a:r>
              <a:rPr lang="en-US" sz="1800" dirty="0">
                <a:latin typeface="Times New Roman" panose="02020603050405020304" pitchFamily="18" charset="0"/>
                <a:cs typeface="Times New Roman" panose="02020603050405020304" pitchFamily="18" charset="0"/>
              </a:rPr>
              <a:t>Advantages</a:t>
            </a:r>
          </a:p>
          <a:p>
            <a:r>
              <a:rPr lang="en-US" sz="1800" dirty="0">
                <a:latin typeface="Times New Roman" panose="02020603050405020304" pitchFamily="18" charset="0"/>
                <a:cs typeface="Times New Roman" panose="02020603050405020304" pitchFamily="18" charset="0"/>
              </a:rPr>
              <a:t>Applications</a:t>
            </a:r>
          </a:p>
          <a:p>
            <a:r>
              <a:rPr lang="en-US" sz="1800" dirty="0">
                <a:latin typeface="Times New Roman" panose="02020603050405020304" pitchFamily="18" charset="0"/>
                <a:cs typeface="Times New Roman" panose="02020603050405020304" pitchFamily="18" charset="0"/>
              </a:rPr>
              <a:t>Result  Analysis</a:t>
            </a:r>
          </a:p>
          <a:p>
            <a:r>
              <a:rPr lang="en-US" sz="1800" dirty="0">
                <a:latin typeface="Times New Roman" panose="02020603050405020304" pitchFamily="18" charset="0"/>
                <a:cs typeface="Times New Roman" panose="02020603050405020304" pitchFamily="18" charset="0"/>
              </a:rPr>
              <a:t>Future Scope</a:t>
            </a:r>
          </a:p>
          <a:p>
            <a:r>
              <a:rPr lang="en-US" sz="1800" dirty="0">
                <a:latin typeface="Times New Roman" panose="02020603050405020304" pitchFamily="18" charset="0"/>
                <a:cs typeface="Times New Roman" panose="02020603050405020304" pitchFamily="18" charset="0"/>
              </a:rPr>
              <a:t>Conclusion</a:t>
            </a:r>
          </a:p>
          <a:p>
            <a:r>
              <a:rPr lang="en-US" sz="1800" dirty="0">
                <a:latin typeface="Times New Roman" panose="02020603050405020304" pitchFamily="18" charset="0"/>
                <a:cs typeface="Times New Roman" panose="02020603050405020304" pitchFamily="18" charset="0"/>
              </a:rPr>
              <a:t>References</a:t>
            </a:r>
          </a:p>
          <a:p>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endParaRPr lang="en-ID" sz="1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979DFC9-49C2-472C-8164-27EAFCE086AB}"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43304"/>
            <a:ext cx="8229600" cy="896112"/>
          </a:xfrm>
        </p:spPr>
        <p:txBody>
          <a:bodyPr>
            <a:normAutofit/>
          </a:bodyPr>
          <a:lstStyle/>
          <a:p>
            <a:pPr algn="l"/>
            <a:r>
              <a:rPr lang="en-US" sz="2800" b="1" dirty="0">
                <a:solidFill>
                  <a:schemeClr val="tx1">
                    <a:lumMod val="95000"/>
                    <a:lumOff val="5000"/>
                  </a:schemeClr>
                </a:solidFill>
                <a:latin typeface="Bookman Old Style" panose="02050604050505020204" pitchFamily="18" charset="0"/>
              </a:rPr>
              <a:t>ABSTRACT</a:t>
            </a:r>
          </a:p>
        </p:txBody>
      </p:sp>
      <p:sp>
        <p:nvSpPr>
          <p:cNvPr id="3" name="Content Placeholder 2"/>
          <p:cNvSpPr>
            <a:spLocks noGrp="1"/>
          </p:cNvSpPr>
          <p:nvPr>
            <p:ph idx="1"/>
          </p:nvPr>
        </p:nvSpPr>
        <p:spPr>
          <a:xfrm>
            <a:off x="228600" y="1447800"/>
            <a:ext cx="8229600" cy="5715000"/>
          </a:xfrm>
        </p:spPr>
        <p:txBody>
          <a:bodyPr>
            <a:noAutofit/>
          </a:bodyPr>
          <a:lstStyle/>
          <a:p>
            <a:pPr algn="just">
              <a:spcAft>
                <a:spcPts val="1000"/>
              </a:spcAft>
            </a:pPr>
            <a:r>
              <a:rPr lang="en-US" sz="2000" dirty="0">
                <a:effectLst/>
                <a:latin typeface="Bookman Old Style" panose="02050604050505020204" pitchFamily="18" charset="0"/>
                <a:ea typeface="Times New Roman" panose="02020603050405020304" pitchFamily="18" charset="0"/>
                <a:cs typeface="Times New Roman" panose="02020603050405020304" pitchFamily="18" charset="0"/>
              </a:rPr>
              <a:t>The </a:t>
            </a:r>
            <a:r>
              <a:rPr lang="en-US" sz="2000" b="1" dirty="0" err="1"/>
              <a:t>IIoT</a:t>
            </a:r>
            <a:r>
              <a:rPr lang="en-US" sz="2000" b="1" dirty="0"/>
              <a:t> systems</a:t>
            </a:r>
            <a:r>
              <a:rPr lang="en-US" sz="2000" dirty="0"/>
              <a:t> use sensors, communication, and machine learning to improve automation, productivity, and decision-making in industries, but they face major </a:t>
            </a:r>
            <a:r>
              <a:rPr lang="en-US" sz="2000" b="1" dirty="0"/>
              <a:t>privacy and security challenges</a:t>
            </a:r>
            <a:r>
              <a:rPr lang="en-US" sz="2000" dirty="0"/>
              <a:t> with sensitive data.</a:t>
            </a:r>
            <a:endParaRPr lang="en-US" sz="2000" dirty="0">
              <a:latin typeface="Bookman Old Style" panose="02050604050505020204" pitchFamily="18" charset="0"/>
              <a:ea typeface="Times New Roman" panose="02020603050405020304" pitchFamily="18" charset="0"/>
              <a:cs typeface="Times New Roman" panose="02020603050405020304" pitchFamily="18" charset="0"/>
            </a:endParaRPr>
          </a:p>
          <a:p>
            <a:pPr algn="just">
              <a:spcAft>
                <a:spcPts val="1000"/>
              </a:spcAft>
            </a:pPr>
            <a:r>
              <a:rPr lang="en-US" sz="2000" b="1" dirty="0" err="1"/>
              <a:t>PriModChain</a:t>
            </a:r>
            <a:r>
              <a:rPr lang="en-US" sz="2000" dirty="0"/>
              <a:t> is a framework designed to provide </a:t>
            </a:r>
            <a:r>
              <a:rPr lang="en-US" sz="2000" b="1" dirty="0"/>
              <a:t>privacy-preserving and trustworthy ML model training and sharing</a:t>
            </a:r>
            <a:r>
              <a:rPr lang="en-US" sz="2000" dirty="0"/>
              <a:t> in distributed </a:t>
            </a:r>
            <a:r>
              <a:rPr lang="en-US" sz="2000" dirty="0" err="1"/>
              <a:t>IIoT</a:t>
            </a:r>
            <a:r>
              <a:rPr lang="en-US" sz="2000" dirty="0"/>
              <a:t> environments.</a:t>
            </a:r>
            <a:endParaRPr lang="en-IN" sz="2000" dirty="0">
              <a:effectLst/>
              <a:latin typeface="Bookman Old Style" panose="02050604050505020204" pitchFamily="18" charset="0"/>
              <a:ea typeface="Calibri" panose="020F0502020204030204" pitchFamily="34" charset="0"/>
              <a:cs typeface="Times New Roman" panose="02020603050405020304" pitchFamily="18" charset="0"/>
            </a:endParaRPr>
          </a:p>
          <a:p>
            <a:pPr algn="just">
              <a:spcAft>
                <a:spcPts val="1000"/>
              </a:spcAft>
            </a:pPr>
            <a:r>
              <a:rPr lang="en-US" sz="2000" dirty="0"/>
              <a:t>It combines </a:t>
            </a:r>
            <a:r>
              <a:rPr lang="en-US" sz="2000" b="1" dirty="0"/>
              <a:t>Federated Learning, Differential Privacy, Ethereum Blockchain, Smart Contracts, and IPFS</a:t>
            </a:r>
            <a:r>
              <a:rPr lang="en-US" sz="2000" dirty="0"/>
              <a:t> to secure data, protect privacy, and enable decentralized model sharing.</a:t>
            </a:r>
          </a:p>
          <a:p>
            <a:pPr algn="just">
              <a:spcAft>
                <a:spcPts val="1000"/>
              </a:spcAft>
            </a:pPr>
            <a:r>
              <a:rPr lang="en-US" sz="2000" dirty="0"/>
              <a:t>The framework improves </a:t>
            </a:r>
            <a:r>
              <a:rPr lang="en-US" sz="2000" b="1" dirty="0"/>
              <a:t>security, transparency, reliability, and resilience</a:t>
            </a:r>
            <a:r>
              <a:rPr lang="en-US" sz="2000" dirty="0"/>
              <a:t>, making it a practical solution for safe ML deployment in </a:t>
            </a:r>
            <a:r>
              <a:rPr lang="en-US" sz="2000" dirty="0" err="1"/>
              <a:t>IIoT</a:t>
            </a:r>
            <a:r>
              <a:rPr lang="en-US" sz="2000" dirty="0"/>
              <a:t> systems.</a:t>
            </a:r>
          </a:p>
          <a:p>
            <a:pPr algn="just">
              <a:spcAft>
                <a:spcPts val="1000"/>
              </a:spcAft>
            </a:pPr>
            <a:endParaRPr lang="en-US" sz="1400" dirty="0"/>
          </a:p>
        </p:txBody>
      </p:sp>
      <p:sp>
        <p:nvSpPr>
          <p:cNvPr id="6" name="Slide Number Placeholder 5"/>
          <p:cNvSpPr>
            <a:spLocks noGrp="1"/>
          </p:cNvSpPr>
          <p:nvPr>
            <p:ph type="sldNum" sz="quarter" idx="12"/>
          </p:nvPr>
        </p:nvSpPr>
        <p:spPr/>
        <p:txBody>
          <a:bodyPr/>
          <a:lstStyle/>
          <a:p>
            <a:fld id="{6979DFC9-49C2-472C-8164-27EAFCE086AB}"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229600" cy="896112"/>
          </a:xfrm>
        </p:spPr>
        <p:txBody>
          <a:bodyPr>
            <a:normAutofit/>
          </a:bodyPr>
          <a:lstStyle/>
          <a:p>
            <a:pPr algn="l"/>
            <a:r>
              <a:rPr lang="en-US" sz="2800" b="1" dirty="0">
                <a:solidFill>
                  <a:schemeClr val="tx1">
                    <a:lumMod val="95000"/>
                    <a:lumOff val="5000"/>
                  </a:schemeClr>
                </a:solidFill>
                <a:latin typeface="Bookman Old Style" panose="02050604050505020204" pitchFamily="18" charset="0"/>
              </a:rPr>
              <a:t>INTRODUCTION</a:t>
            </a:r>
          </a:p>
        </p:txBody>
      </p:sp>
      <p:sp>
        <p:nvSpPr>
          <p:cNvPr id="3" name="Content Placeholder 2"/>
          <p:cNvSpPr>
            <a:spLocks noGrp="1"/>
          </p:cNvSpPr>
          <p:nvPr>
            <p:ph idx="1"/>
          </p:nvPr>
        </p:nvSpPr>
        <p:spPr>
          <a:xfrm>
            <a:off x="152400" y="1447800"/>
            <a:ext cx="8229600" cy="5205219"/>
          </a:xfrm>
        </p:spPr>
        <p:txBody>
          <a:bodyPr>
            <a:normAutofit fontScale="25000" lnSpcReduction="20000"/>
          </a:bodyPr>
          <a:lstStyle/>
          <a:p>
            <a:pPr algn="just">
              <a:lnSpc>
                <a:spcPct val="120000"/>
              </a:lnSpc>
            </a:pPr>
            <a:r>
              <a:rPr lang="en-US" sz="8000" dirty="0"/>
              <a:t>The Industrial Internet of Things (</a:t>
            </a:r>
            <a:r>
              <a:rPr lang="en-US" sz="8000" dirty="0" err="1"/>
              <a:t>IIoT</a:t>
            </a:r>
            <a:r>
              <a:rPr lang="en-US" sz="8000" dirty="0"/>
              <a:t>) transforms industries by using smart sensors and machine learning to collect and analyze data . It enables Industry 4.0 applications like predictive maintenance and quality control in sectors such as healthcare, energy, and transportation.</a:t>
            </a:r>
            <a:endParaRPr lang="en-US" sz="8000" dirty="0">
              <a:effectLst/>
              <a:latin typeface="Bookman Old Style" panose="02050604050505020204" pitchFamily="18" charset="0"/>
              <a:ea typeface="Times New Roman" panose="02020603050405020304" pitchFamily="18" charset="0"/>
            </a:endParaRPr>
          </a:p>
          <a:p>
            <a:pPr algn="just">
              <a:lnSpc>
                <a:spcPct val="120000"/>
              </a:lnSpc>
            </a:pPr>
            <a:r>
              <a:rPr lang="en-US" sz="8000" dirty="0"/>
              <a:t>However, </a:t>
            </a:r>
            <a:r>
              <a:rPr lang="en-US" sz="8000" dirty="0" err="1"/>
              <a:t>IIoT</a:t>
            </a:r>
            <a:r>
              <a:rPr lang="en-US" sz="8000" dirty="0"/>
              <a:t> systems handle large amounts of sensitive and distributed data, which raises serious concerns about </a:t>
            </a:r>
            <a:r>
              <a:rPr lang="en-US" sz="8000" b="1" dirty="0"/>
              <a:t>privacy, security, and trust</a:t>
            </a:r>
            <a:r>
              <a:rPr lang="en-US" sz="8000" dirty="0"/>
              <a:t>. Machine learning models trained on such data are vulnerable to attacks like data leakage and tampering.</a:t>
            </a:r>
            <a:endParaRPr lang="en-US" sz="8000" dirty="0">
              <a:effectLst/>
              <a:latin typeface="Bookman Old Style" panose="02050604050505020204" pitchFamily="18" charset="0"/>
              <a:ea typeface="Times New Roman" panose="02020603050405020304" pitchFamily="18" charset="0"/>
            </a:endParaRPr>
          </a:p>
          <a:p>
            <a:pPr algn="just">
              <a:lnSpc>
                <a:spcPct val="120000"/>
              </a:lnSpc>
            </a:pPr>
            <a:r>
              <a:rPr lang="en-US" sz="8000" dirty="0">
                <a:effectLst/>
                <a:latin typeface="Bookman Old Style" panose="02050604050505020204" pitchFamily="18" charset="0"/>
                <a:ea typeface="Times New Roman" panose="02020603050405020304" pitchFamily="18" charset="0"/>
              </a:rPr>
              <a:t>To address this challenge, </a:t>
            </a:r>
            <a:r>
              <a:rPr lang="en-US" sz="8000" dirty="0"/>
              <a:t>Our project introduces </a:t>
            </a:r>
            <a:r>
              <a:rPr lang="en-US" sz="8000" b="1" dirty="0" err="1"/>
              <a:t>PriModChain</a:t>
            </a:r>
            <a:r>
              <a:rPr lang="en-US" sz="8000" dirty="0"/>
              <a:t>, a privacy-preserving ML framework for </a:t>
            </a:r>
            <a:r>
              <a:rPr lang="en-US" sz="8000" dirty="0" err="1"/>
              <a:t>IIoT</a:t>
            </a:r>
            <a:r>
              <a:rPr lang="en-US" sz="8000" dirty="0"/>
              <a:t> that uses Federated Learning, Differential Privacy, Blockchain, Smart Contracts, and IPFS for secure and reliable model training and sharing.</a:t>
            </a:r>
          </a:p>
          <a:p>
            <a:pPr algn="just">
              <a:lnSpc>
                <a:spcPct val="120000"/>
              </a:lnSpc>
            </a:pPr>
            <a:r>
              <a:rPr lang="en-US" sz="8000" dirty="0"/>
              <a:t>This approach ensures secure data handling, transparency, and resilience, making it a strong solution for safe and trustworthy ML deployment in </a:t>
            </a:r>
            <a:r>
              <a:rPr lang="en-US" sz="8000" dirty="0" err="1"/>
              <a:t>IIoT</a:t>
            </a:r>
            <a:r>
              <a:rPr lang="en-US" sz="8000" dirty="0"/>
              <a:t> environments.</a:t>
            </a:r>
          </a:p>
          <a:p>
            <a:pPr algn="just">
              <a:lnSpc>
                <a:spcPct val="120000"/>
              </a:lnSpc>
            </a:pPr>
            <a:endParaRPr lang="en-IN" sz="8000" dirty="0">
              <a:effectLst/>
              <a:latin typeface="Bookman Old Style" panose="02050604050505020204" pitchFamily="18" charset="0"/>
              <a:ea typeface="Times New Roman" panose="02020603050405020304" pitchFamily="18" charset="0"/>
            </a:endParaRPr>
          </a:p>
          <a:p>
            <a:pPr algn="just">
              <a:buClr>
                <a:schemeClr val="tx1"/>
              </a:buClr>
              <a:buFont typeface="Wingdings" panose="05000000000000000000" pitchFamily="2" charset="2"/>
              <a:buChar char="Ø"/>
            </a:pPr>
            <a:endParaRPr lang="en-US" sz="1800" dirty="0">
              <a:latin typeface="Bookman Old Style" panose="020506040505050202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6979DFC9-49C2-472C-8164-27EAFCE086AB}" type="slidenum">
              <a:rPr lang="en-US" smtClean="0"/>
              <a:t>4</a:t>
            </a:fld>
            <a:endParaRPr lang="en-US"/>
          </a:p>
        </p:txBody>
      </p:sp>
      <p:sp>
        <p:nvSpPr>
          <p:cNvPr id="5" name="TextBox 4">
            <a:extLst>
              <a:ext uri="{FF2B5EF4-FFF2-40B4-BE49-F238E27FC236}">
                <a16:creationId xmlns:a16="http://schemas.microsoft.com/office/drawing/2014/main" id="{67DE5711-AA4C-8CBE-E60F-87D1AD06A54E}"/>
              </a:ext>
            </a:extLst>
          </p:cNvPr>
          <p:cNvSpPr txBox="1"/>
          <p:nvPr/>
        </p:nvSpPr>
        <p:spPr>
          <a:xfrm>
            <a:off x="1295400" y="3546515"/>
            <a:ext cx="8534400" cy="369332"/>
          </a:xfrm>
          <a:prstGeom prst="rect">
            <a:avLst/>
          </a:prstGeom>
          <a:noFill/>
        </p:spPr>
        <p:txBody>
          <a:bodyPr wrap="square">
            <a:spAutoFit/>
          </a:bodyPr>
          <a:lstStyle/>
          <a:p>
            <a:pPr>
              <a:buNone/>
            </a:pPr>
            <a:r>
              <a:rPr lang="en-US" sz="1800" dirty="0">
                <a:effectLst/>
                <a:latin typeface="Times New Roman" panose="02020603050405020304" pitchFamily="18" charset="0"/>
                <a:ea typeface="Times New Roman" panose="02020603050405020304" pitchFamily="18" charset="0"/>
              </a:rPr>
              <a:t>.</a:t>
            </a:r>
            <a:endParaRPr lang="en-IN" sz="18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110" y="126092"/>
            <a:ext cx="8229600" cy="1143000"/>
          </a:xfrm>
        </p:spPr>
        <p:txBody>
          <a:bodyPr>
            <a:normAutofit/>
          </a:bodyPr>
          <a:lstStyle/>
          <a:p>
            <a:r>
              <a:rPr lang="en-IN" sz="2800" b="1" dirty="0">
                <a:solidFill>
                  <a:schemeClr val="tx1"/>
                </a:solidFill>
                <a:latin typeface="Bookman Old Style" panose="02050604050505020204" pitchFamily="18" charset="0"/>
              </a:rPr>
              <a:t>EXISTING SYSTEM</a:t>
            </a:r>
          </a:p>
        </p:txBody>
      </p:sp>
      <p:sp>
        <p:nvSpPr>
          <p:cNvPr id="4" name="Slide Number Placeholder 3"/>
          <p:cNvSpPr>
            <a:spLocks noGrp="1"/>
          </p:cNvSpPr>
          <p:nvPr>
            <p:ph type="sldNum" sz="quarter" idx="12"/>
          </p:nvPr>
        </p:nvSpPr>
        <p:spPr/>
        <p:txBody>
          <a:bodyPr/>
          <a:lstStyle/>
          <a:p>
            <a:fld id="{6979DFC9-49C2-472C-8164-27EAFCE086AB}" type="slidenum">
              <a:rPr lang="en-US" smtClean="0"/>
              <a:t>5</a:t>
            </a:fld>
            <a:endParaRPr lang="en-US"/>
          </a:p>
        </p:txBody>
      </p:sp>
      <p:sp>
        <p:nvSpPr>
          <p:cNvPr id="10" name="TextBox 9">
            <a:extLst>
              <a:ext uri="{FF2B5EF4-FFF2-40B4-BE49-F238E27FC236}">
                <a16:creationId xmlns:a16="http://schemas.microsoft.com/office/drawing/2014/main" id="{1D59DA09-6BDE-2957-DDBF-267AF23C972E}"/>
              </a:ext>
            </a:extLst>
          </p:cNvPr>
          <p:cNvSpPr txBox="1"/>
          <p:nvPr/>
        </p:nvSpPr>
        <p:spPr>
          <a:xfrm>
            <a:off x="228600" y="1342702"/>
            <a:ext cx="7927910" cy="5016758"/>
          </a:xfrm>
          <a:prstGeom prst="rect">
            <a:avLst/>
          </a:prstGeom>
          <a:noFill/>
        </p:spPr>
        <p:txBody>
          <a:bodyPr wrap="square">
            <a:spAutoFit/>
          </a:bodyPr>
          <a:lstStyle/>
          <a:p>
            <a:pPr algn="just"/>
            <a:endParaRPr lang="en-IN" sz="2000" b="1" dirty="0">
              <a:effectLst/>
              <a:latin typeface="Bookman Old Style" panose="02050604050505020204" pitchFamily="18" charset="0"/>
              <a:ea typeface="Times New Roman" panose="02020603050405020304" pitchFamily="18" charset="0"/>
            </a:endParaRPr>
          </a:p>
          <a:p>
            <a:pPr marL="342900" indent="-342900" algn="just">
              <a:buFont typeface="Arial" panose="020B0604020202020204" pitchFamily="34" charset="0"/>
              <a:buChar char="•"/>
            </a:pPr>
            <a:r>
              <a:rPr lang="en-US" sz="2000" dirty="0">
                <a:effectLst/>
                <a:latin typeface="Bookman Old Style" panose="02050604050505020204" pitchFamily="18" charset="0"/>
                <a:ea typeface="Times New Roman" panose="02020603050405020304" pitchFamily="18" charset="0"/>
              </a:rPr>
              <a:t>In </a:t>
            </a:r>
            <a:r>
              <a:rPr lang="en-US" sz="2000" dirty="0"/>
              <a:t>the domain of </a:t>
            </a:r>
            <a:r>
              <a:rPr lang="en-US" sz="2000" dirty="0" err="1"/>
              <a:t>IIoT</a:t>
            </a:r>
            <a:r>
              <a:rPr lang="en-US" sz="2000" dirty="0"/>
              <a:t>-based industrial systems, various existing methods are used to improve automation and decision-making. Existing systems typically involve:</a:t>
            </a:r>
          </a:p>
          <a:p>
            <a:pPr marL="342900" indent="-342900" algn="just">
              <a:buFont typeface="Arial" panose="020B0604020202020204" pitchFamily="34" charset="0"/>
              <a:buChar char="•"/>
            </a:pPr>
            <a:r>
              <a:rPr lang="en-IN" sz="2000" b="1" dirty="0"/>
              <a:t>Centralized ML Training:</a:t>
            </a:r>
            <a:r>
              <a:rPr lang="en-US" sz="2000" dirty="0"/>
              <a:t>Data from multiple devices is collected in a central server for model training, which increases privacy and security risks.</a:t>
            </a:r>
          </a:p>
          <a:p>
            <a:pPr marL="342900" indent="-342900" algn="just">
              <a:buFont typeface="Arial" panose="020B0604020202020204" pitchFamily="34" charset="0"/>
              <a:buChar char="•"/>
            </a:pPr>
            <a:r>
              <a:rPr lang="en-IN" sz="2000" b="1" dirty="0"/>
              <a:t>Basic Security Techniques:</a:t>
            </a:r>
            <a:r>
              <a:rPr lang="en-US" sz="2000" dirty="0"/>
              <a:t>Traditional encryption and access control are used, but they may not fully prevent data leakage or insider attacks.</a:t>
            </a:r>
          </a:p>
          <a:p>
            <a:pPr marL="342900" indent="-342900" algn="just">
              <a:buFont typeface="Arial" panose="020B0604020202020204" pitchFamily="34" charset="0"/>
              <a:buChar char="•"/>
            </a:pPr>
            <a:r>
              <a:rPr lang="en-IN" sz="2000" b="1" dirty="0"/>
              <a:t>Conventional Data Sharing:</a:t>
            </a:r>
            <a:r>
              <a:rPr lang="en-US" sz="2000" dirty="0"/>
              <a:t>Organizations share data or models directly, which can expose sensitive information.</a:t>
            </a:r>
          </a:p>
          <a:p>
            <a:pPr marL="342900" indent="-342900" algn="just">
              <a:buFont typeface="Arial" panose="020B0604020202020204" pitchFamily="34" charset="0"/>
              <a:buChar char="•"/>
            </a:pPr>
            <a:r>
              <a:rPr lang="en-US" sz="2000" b="1" dirty="0"/>
              <a:t>Limited Privacy Protection:</a:t>
            </a:r>
            <a:r>
              <a:rPr lang="en-US" sz="2000" dirty="0"/>
              <a:t> Most systems do not use advanced privacy techniques, making them vulnerable to inference and tampering attacks.</a:t>
            </a:r>
          </a:p>
          <a:p>
            <a:pPr marL="342900" indent="-342900" algn="just">
              <a:buFont typeface="Arial" panose="020B0604020202020204" pitchFamily="34" charset="0"/>
              <a:buChar char="•"/>
            </a:pPr>
            <a:endParaRPr lang="en-IN" sz="2000" dirty="0">
              <a:effectLst/>
              <a:latin typeface="Bookman Old Style" panose="02050604050505020204" pitchFamily="18" charset="0"/>
              <a:ea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6248"/>
            <a:ext cx="8229600" cy="1143000"/>
          </a:xfrm>
        </p:spPr>
        <p:txBody>
          <a:bodyPr>
            <a:normAutofit/>
          </a:bodyPr>
          <a:lstStyle/>
          <a:p>
            <a:r>
              <a:rPr lang="en-IN" sz="2800" b="1" dirty="0">
                <a:solidFill>
                  <a:schemeClr val="tx1"/>
                </a:solidFill>
                <a:latin typeface="Bookman Old Style" panose="02050604050505020204" pitchFamily="18" charset="0"/>
              </a:rPr>
              <a:t>PROPOSED METHOD</a:t>
            </a:r>
          </a:p>
        </p:txBody>
      </p:sp>
      <p:sp>
        <p:nvSpPr>
          <p:cNvPr id="4" name="Slide Number Placeholder 3"/>
          <p:cNvSpPr>
            <a:spLocks noGrp="1"/>
          </p:cNvSpPr>
          <p:nvPr>
            <p:ph type="sldNum" sz="quarter" idx="12"/>
          </p:nvPr>
        </p:nvSpPr>
        <p:spPr/>
        <p:txBody>
          <a:bodyPr/>
          <a:lstStyle/>
          <a:p>
            <a:fld id="{6979DFC9-49C2-472C-8164-27EAFCE086AB}" type="slidenum">
              <a:rPr lang="en-US" smtClean="0"/>
              <a:t>6</a:t>
            </a:fld>
            <a:endParaRPr lang="en-US"/>
          </a:p>
        </p:txBody>
      </p:sp>
      <p:sp>
        <p:nvSpPr>
          <p:cNvPr id="5" name="Rectangle 1">
            <a:extLst>
              <a:ext uri="{FF2B5EF4-FFF2-40B4-BE49-F238E27FC236}">
                <a16:creationId xmlns:a16="http://schemas.microsoft.com/office/drawing/2014/main" id="{0B8FE34F-4BF0-8976-98C2-8A2D3605DE19}"/>
              </a:ext>
            </a:extLst>
          </p:cNvPr>
          <p:cNvSpPr>
            <a:spLocks noChangeArrowheads="1"/>
          </p:cNvSpPr>
          <p:nvPr/>
        </p:nvSpPr>
        <p:spPr bwMode="auto">
          <a:xfrm>
            <a:off x="0" y="2372751"/>
            <a:ext cx="73152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1" eaLnBrk="0" fontAlgn="base" hangingPunct="0">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66267E61-199B-DB9E-2BBC-BAE11C1D8E70}"/>
              </a:ext>
            </a:extLst>
          </p:cNvPr>
          <p:cNvSpPr>
            <a:spLocks noGrp="1" noChangeArrowheads="1"/>
          </p:cNvSpPr>
          <p:nvPr>
            <p:ph idx="1"/>
          </p:nvPr>
        </p:nvSpPr>
        <p:spPr bwMode="auto">
          <a:xfrm>
            <a:off x="152400" y="3526729"/>
            <a:ext cx="754379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5E7BF17C-952A-D10B-6DF7-5293DC2974AA}"/>
              </a:ext>
            </a:extLst>
          </p:cNvPr>
          <p:cNvSpPr txBox="1"/>
          <p:nvPr/>
        </p:nvSpPr>
        <p:spPr>
          <a:xfrm>
            <a:off x="228600" y="1447800"/>
            <a:ext cx="8686800" cy="5601533"/>
          </a:xfrm>
          <a:prstGeom prst="rect">
            <a:avLst/>
          </a:prstGeom>
          <a:noFill/>
        </p:spPr>
        <p:txBody>
          <a:bodyPr wrap="square">
            <a:spAutoFit/>
          </a:bodyPr>
          <a:lstStyle/>
          <a:p>
            <a:r>
              <a:rPr lang="en-US" sz="2000" dirty="0"/>
              <a:t>The proposed system introduces a </a:t>
            </a:r>
            <a:r>
              <a:rPr lang="en-US" sz="2000" b="1" dirty="0"/>
              <a:t>trustworthy and privacy-preserving framework</a:t>
            </a:r>
            <a:r>
              <a:rPr lang="en-US" sz="2000" dirty="0"/>
              <a:t> for Industrial IoT (</a:t>
            </a:r>
            <a:r>
              <a:rPr lang="en-US" sz="2000" dirty="0" err="1"/>
              <a:t>IIoT</a:t>
            </a:r>
            <a:r>
              <a:rPr lang="en-US" sz="2000" dirty="0"/>
              <a:t>) environments to enable secure machine learning (ML) model and sharing without exposing sensitive industrial data. The framework integrates </a:t>
            </a:r>
            <a:r>
              <a:rPr lang="en-US" sz="2000" b="1" dirty="0"/>
              <a:t>Federated Learning (FL), Differential Privacy (DP), Blockchain, Smart Contracts, and IPFS</a:t>
            </a:r>
            <a:r>
              <a:rPr lang="en-US" sz="2000" dirty="0"/>
              <a:t> to ensure data confidentiality, integrity, and trust.</a:t>
            </a:r>
          </a:p>
          <a:p>
            <a:pPr marR="0" lvl="0" algn="just" defTabSz="914400" rtl="0" eaLnBrk="0" fontAlgn="base" latinLnBrk="0" hangingPunct="0">
              <a:lnSpc>
                <a:spcPct val="100000"/>
              </a:lnSpc>
              <a:spcBef>
                <a:spcPct val="0"/>
              </a:spcBef>
              <a:spcAft>
                <a:spcPct val="0"/>
              </a:spcAft>
              <a:buClrTx/>
              <a:buSzTx/>
              <a:tabLst/>
            </a:pPr>
            <a:endParaRPr kumimoji="0" lang="en-US" altLang="en-US" sz="2000" b="1" i="0" u="none" strike="noStrike" cap="none" normalizeH="0" baseline="0" dirty="0">
              <a:ln>
                <a:noFill/>
              </a:ln>
              <a:solidFill>
                <a:schemeClr val="tx1"/>
              </a:solidFill>
              <a:effectLst/>
              <a:latin typeface="Bookman Old Style" panose="02050604050505020204" pitchFamily="18" charset="0"/>
            </a:endParaRPr>
          </a:p>
          <a:p>
            <a:pPr marR="0" lvl="0" algn="just"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Bookman Old Style" panose="02050604050505020204" pitchFamily="18" charset="0"/>
              </a:rPr>
              <a:t>System Architecture Design</a:t>
            </a:r>
            <a:endParaRPr kumimoji="0" lang="en-US" altLang="en-US" sz="2000" b="0" i="0" u="none" strike="noStrike" cap="none" normalizeH="0" baseline="0" dirty="0">
              <a:ln>
                <a:noFill/>
              </a:ln>
              <a:solidFill>
                <a:schemeClr val="tx1"/>
              </a:solidFill>
              <a:effectLst/>
              <a:latin typeface="Bookman Old Style" panose="02050604050505020204" pitchFamily="18" charset="0"/>
            </a:endParaRPr>
          </a:p>
          <a:p>
            <a:r>
              <a:rPr lang="en-IN" b="1" dirty="0" err="1"/>
              <a:t>IIoT</a:t>
            </a:r>
            <a:r>
              <a:rPr lang="en-IN" b="1" dirty="0"/>
              <a:t> Devices/Sensors</a:t>
            </a:r>
            <a:r>
              <a:rPr lang="en-IN" dirty="0"/>
              <a:t> </a:t>
            </a:r>
            <a:r>
              <a:rPr lang="en-IN" sz="2000" dirty="0"/>
              <a:t>– Collect industrial data from machines and processes</a:t>
            </a:r>
          </a:p>
          <a:p>
            <a:r>
              <a:rPr lang="en-IN" b="1" dirty="0"/>
              <a:t>Local Edge Nodes</a:t>
            </a:r>
            <a:r>
              <a:rPr lang="en-IN" dirty="0"/>
              <a:t> </a:t>
            </a:r>
            <a:r>
              <a:rPr lang="en-IN" sz="2000" dirty="0"/>
              <a:t>– Perform local ML training</a:t>
            </a:r>
          </a:p>
          <a:p>
            <a:r>
              <a:rPr lang="en-IN" b="1" dirty="0"/>
              <a:t>Blockchain Network (Ethereum)</a:t>
            </a:r>
            <a:r>
              <a:rPr lang="en-IN" dirty="0"/>
              <a:t> </a:t>
            </a:r>
            <a:r>
              <a:rPr lang="en-IN" sz="2000" dirty="0"/>
              <a:t>– Ensures trust and transparency</a:t>
            </a:r>
          </a:p>
          <a:p>
            <a:endParaRPr lang="en-IN" sz="2000" dirty="0"/>
          </a:p>
          <a:p>
            <a:pPr marL="342900" indent="-342900">
              <a:buFont typeface="Arial" panose="020B0604020202020204" pitchFamily="34" charset="0"/>
              <a:buChar char="•"/>
            </a:pPr>
            <a:r>
              <a:rPr lang="en-US" sz="2000" dirty="0"/>
              <a:t>By eliminating centralized control and integrating advanced privacy and security mechanisms, the proposed system offers higher trust, better data protection, and greater resilience while supporting Industry 4.0 applications such as predictive maintenance, smart manufacturing, and quality monitoring.</a:t>
            </a:r>
            <a:endParaRPr lang="en-IN" sz="2000" dirty="0"/>
          </a:p>
          <a:p>
            <a:pPr marL="0" marR="0" lvl="0" indent="0" algn="l" defTabSz="914400" rtl="0" eaLnBrk="0" fontAlgn="base" latinLnBrk="0" hangingPunct="0">
              <a:lnSpc>
                <a:spcPct val="100000"/>
              </a:lnSpc>
              <a:spcBef>
                <a:spcPct val="0"/>
              </a:spcBef>
              <a:spcAft>
                <a:spcPct val="0"/>
              </a:spcAft>
              <a:buClrTx/>
              <a:buSzTx/>
              <a:tabLst/>
            </a:pP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100" y="407489"/>
            <a:ext cx="8305800" cy="609600"/>
          </a:xfrm>
        </p:spPr>
        <p:txBody>
          <a:bodyPr>
            <a:normAutofit/>
          </a:bodyPr>
          <a:lstStyle/>
          <a:p>
            <a:r>
              <a:rPr lang="en-US" sz="2800" b="1" dirty="0">
                <a:solidFill>
                  <a:schemeClr val="tx1">
                    <a:lumMod val="95000"/>
                    <a:lumOff val="5000"/>
                  </a:schemeClr>
                </a:solidFill>
                <a:latin typeface="Bookman Old Style" panose="02050604050505020204" pitchFamily="18" charset="0"/>
              </a:rPr>
              <a:t>ARCHITECTURE DIAGRAM</a:t>
            </a:r>
            <a:endParaRPr lang="en-IN" sz="2800" b="1" dirty="0">
              <a:solidFill>
                <a:schemeClr val="tx1">
                  <a:lumMod val="95000"/>
                  <a:lumOff val="5000"/>
                </a:schemeClr>
              </a:solidFill>
              <a:latin typeface="Bookman Old Style" panose="02050604050505020204" pitchFamily="18" charset="0"/>
            </a:endParaRPr>
          </a:p>
        </p:txBody>
      </p:sp>
      <p:sp>
        <p:nvSpPr>
          <p:cNvPr id="5" name="Slide Number Placeholder 4"/>
          <p:cNvSpPr>
            <a:spLocks noGrp="1"/>
          </p:cNvSpPr>
          <p:nvPr>
            <p:ph type="sldNum" sz="quarter" idx="12"/>
          </p:nvPr>
        </p:nvSpPr>
        <p:spPr/>
        <p:txBody>
          <a:bodyPr/>
          <a:lstStyle/>
          <a:p>
            <a:fld id="{6979DFC9-49C2-472C-8164-27EAFCE086AB}" type="slidenum">
              <a:rPr lang="en-US" smtClean="0"/>
              <a:t>7</a:t>
            </a:fld>
            <a:endParaRPr lang="en-US"/>
          </a:p>
        </p:txBody>
      </p:sp>
      <p:pic>
        <p:nvPicPr>
          <p:cNvPr id="7" name="Picture 6">
            <a:extLst>
              <a:ext uri="{FF2B5EF4-FFF2-40B4-BE49-F238E27FC236}">
                <a16:creationId xmlns:a16="http://schemas.microsoft.com/office/drawing/2014/main" id="{7A8ACFC6-E974-355B-6C75-21C322105A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0" y="1143000"/>
            <a:ext cx="5791200" cy="52133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81000" y="-152400"/>
            <a:ext cx="8229600" cy="1143000"/>
          </a:xfrm>
        </p:spPr>
        <p:txBody>
          <a:bodyPr>
            <a:normAutofit/>
          </a:bodyPr>
          <a:lstStyle/>
          <a:p>
            <a:r>
              <a:rPr lang="en-IN" sz="2800" b="1" dirty="0">
                <a:latin typeface="Bookman Old Style" panose="02050604050505020204" pitchFamily="18" charset="0"/>
              </a:rPr>
              <a:t>REQUIREMENTS:</a:t>
            </a:r>
          </a:p>
        </p:txBody>
      </p:sp>
      <p:sp>
        <p:nvSpPr>
          <p:cNvPr id="5" name="Content Placeholder 4"/>
          <p:cNvSpPr>
            <a:spLocks noGrp="1"/>
          </p:cNvSpPr>
          <p:nvPr>
            <p:ph idx="1"/>
          </p:nvPr>
        </p:nvSpPr>
        <p:spPr>
          <a:xfrm>
            <a:off x="381000" y="1311275"/>
            <a:ext cx="8229600" cy="5410200"/>
          </a:xfrm>
        </p:spPr>
        <p:txBody>
          <a:bodyPr>
            <a:normAutofit/>
          </a:bodyPr>
          <a:lstStyle/>
          <a:p>
            <a:pPr>
              <a:lnSpc>
                <a:spcPct val="150000"/>
              </a:lnSpc>
              <a:spcAft>
                <a:spcPts val="1000"/>
              </a:spcAft>
              <a:buNone/>
            </a:pPr>
            <a:r>
              <a:rPr lang="en-IN" sz="2000" b="1" dirty="0">
                <a:effectLst/>
                <a:latin typeface="Bookman Old Style" panose="02050604050505020204" pitchFamily="18" charset="0"/>
                <a:ea typeface="Calibri" panose="020F0502020204030204" pitchFamily="34" charset="0"/>
                <a:cs typeface="Times New Roman" panose="02020603050405020304" pitchFamily="18" charset="0"/>
              </a:rPr>
              <a:t>Hardware </a:t>
            </a:r>
            <a:r>
              <a:rPr lang="en-IN" sz="2000" b="1" dirty="0">
                <a:latin typeface="Bookman Old Style" panose="02050604050505020204" pitchFamily="18" charset="0"/>
                <a:ea typeface="Calibri" panose="020F0502020204030204" pitchFamily="34" charset="0"/>
                <a:cs typeface="Times New Roman" panose="02020603050405020304" pitchFamily="18" charset="0"/>
              </a:rPr>
              <a:t>Requirements</a:t>
            </a:r>
            <a:endParaRPr lang="en-IN" sz="2000" dirty="0">
              <a:effectLst/>
              <a:latin typeface="Bookman Old Style" panose="02050604050505020204" pitchFamily="18" charset="0"/>
              <a:ea typeface="Calibri" panose="020F0502020204030204" pitchFamily="34" charset="0"/>
              <a:cs typeface="Times New Roman" panose="02020603050405020304" pitchFamily="18" charset="0"/>
            </a:endParaRPr>
          </a:p>
          <a:p>
            <a:pPr>
              <a:lnSpc>
                <a:spcPct val="150000"/>
              </a:lnSpc>
              <a:spcAft>
                <a:spcPts val="1000"/>
              </a:spcAft>
              <a:buNone/>
            </a:pPr>
            <a:r>
              <a:rPr lang="en-IN" sz="2000" dirty="0">
                <a:effectLst/>
                <a:latin typeface="Bookman Old Style" panose="02050604050505020204" pitchFamily="18" charset="0"/>
                <a:ea typeface="Calibri" panose="020F0502020204030204" pitchFamily="34" charset="0"/>
                <a:cs typeface="Times New Roman" panose="02020603050405020304" pitchFamily="18" charset="0"/>
              </a:rPr>
              <a:t>System	: </a:t>
            </a:r>
            <a:r>
              <a:rPr lang="en-IN" sz="2000" dirty="0" err="1">
                <a:effectLst/>
                <a:latin typeface="Bookman Old Style" panose="02050604050505020204" pitchFamily="18" charset="0"/>
                <a:ea typeface="Calibri" panose="020F0502020204030204" pitchFamily="34" charset="0"/>
                <a:cs typeface="Times New Roman" panose="02020603050405020304" pitchFamily="18" charset="0"/>
              </a:rPr>
              <a:t>Intell</a:t>
            </a:r>
            <a:r>
              <a:rPr lang="en-IN" sz="2000" dirty="0">
                <a:effectLst/>
                <a:latin typeface="Bookman Old Style" panose="02050604050505020204" pitchFamily="18" charset="0"/>
                <a:ea typeface="Calibri" panose="020F0502020204030204" pitchFamily="34" charset="0"/>
                <a:cs typeface="Times New Roman" panose="02020603050405020304" pitchFamily="18" charset="0"/>
              </a:rPr>
              <a:t> I-3, 5, 7 Processor.</a:t>
            </a:r>
          </a:p>
          <a:p>
            <a:pPr>
              <a:lnSpc>
                <a:spcPct val="150000"/>
              </a:lnSpc>
              <a:spcAft>
                <a:spcPts val="1000"/>
              </a:spcAft>
              <a:buNone/>
            </a:pPr>
            <a:r>
              <a:rPr lang="en-IN" sz="2000" dirty="0">
                <a:effectLst/>
                <a:latin typeface="Bookman Old Style" panose="02050604050505020204" pitchFamily="18" charset="0"/>
                <a:ea typeface="Calibri" panose="020F0502020204030204" pitchFamily="34" charset="0"/>
                <a:cs typeface="Times New Roman" panose="02020603050405020304" pitchFamily="18" charset="0"/>
              </a:rPr>
              <a:t>Hard Disk	: 500 GB.</a:t>
            </a:r>
          </a:p>
          <a:p>
            <a:pPr>
              <a:lnSpc>
                <a:spcPct val="150000"/>
              </a:lnSpc>
              <a:spcAft>
                <a:spcPts val="1000"/>
              </a:spcAft>
              <a:buNone/>
            </a:pPr>
            <a:r>
              <a:rPr lang="en-IN" sz="2000" dirty="0">
                <a:effectLst/>
                <a:latin typeface="Bookman Old Style" panose="02050604050505020204" pitchFamily="18" charset="0"/>
                <a:ea typeface="Calibri" panose="020F0502020204030204" pitchFamily="34" charset="0"/>
                <a:cs typeface="Times New Roman" panose="02020603050405020304" pitchFamily="18" charset="0"/>
              </a:rPr>
              <a:t>Floppy Drive	: 1.44 Mb.</a:t>
            </a:r>
          </a:p>
          <a:p>
            <a:pPr>
              <a:lnSpc>
                <a:spcPct val="150000"/>
              </a:lnSpc>
              <a:spcAft>
                <a:spcPts val="1000"/>
              </a:spcAft>
              <a:buNone/>
            </a:pPr>
            <a:r>
              <a:rPr lang="en-IN" sz="2000" dirty="0">
                <a:effectLst/>
                <a:latin typeface="Bookman Old Style" panose="02050604050505020204" pitchFamily="18" charset="0"/>
                <a:ea typeface="Calibri" panose="020F0502020204030204" pitchFamily="34" charset="0"/>
                <a:cs typeface="Times New Roman" panose="02020603050405020304" pitchFamily="18" charset="0"/>
              </a:rPr>
              <a:t>Monitor	: 14’ Colour Monitor.</a:t>
            </a:r>
          </a:p>
          <a:p>
            <a:pPr>
              <a:lnSpc>
                <a:spcPct val="150000"/>
              </a:lnSpc>
              <a:spcAft>
                <a:spcPts val="1000"/>
              </a:spcAft>
              <a:buNone/>
            </a:pPr>
            <a:r>
              <a:rPr lang="en-IN" sz="2000" dirty="0">
                <a:effectLst/>
                <a:latin typeface="Bookman Old Style" panose="02050604050505020204" pitchFamily="18" charset="0"/>
                <a:ea typeface="Calibri" panose="020F0502020204030204" pitchFamily="34" charset="0"/>
                <a:cs typeface="Times New Roman" panose="02020603050405020304" pitchFamily="18" charset="0"/>
              </a:rPr>
              <a:t>Mouse	: Optical Mouse.</a:t>
            </a:r>
          </a:p>
          <a:p>
            <a:pPr>
              <a:lnSpc>
                <a:spcPct val="150000"/>
              </a:lnSpc>
              <a:spcAft>
                <a:spcPts val="1000"/>
              </a:spcAft>
              <a:buNone/>
            </a:pPr>
            <a:r>
              <a:rPr lang="en-IN" sz="2000" dirty="0">
                <a:effectLst/>
                <a:latin typeface="Bookman Old Style" panose="02050604050505020204" pitchFamily="18" charset="0"/>
                <a:ea typeface="Calibri" panose="020F0502020204030204" pitchFamily="34" charset="0"/>
                <a:cs typeface="Times New Roman" panose="02020603050405020304" pitchFamily="18" charset="0"/>
              </a:rPr>
              <a:t>Ram	: </a:t>
            </a:r>
            <a:r>
              <a:rPr lang="en-IN" sz="2000" dirty="0"/>
              <a:t>8 GB or above</a:t>
            </a:r>
            <a:endParaRPr lang="en-IN" sz="2000" dirty="0">
              <a:effectLst/>
              <a:latin typeface="Bookman Old Style" panose="02050604050505020204" pitchFamily="18" charset="0"/>
              <a:ea typeface="Calibri" panose="020F0502020204030204" pitchFamily="34" charset="0"/>
              <a:cs typeface="Times New Roman" panose="02020603050405020304" pitchFamily="18" charset="0"/>
            </a:endParaRPr>
          </a:p>
          <a:p>
            <a:pPr marL="0" indent="0">
              <a:buClr>
                <a:schemeClr val="tx1">
                  <a:lumMod val="95000"/>
                  <a:lumOff val="5000"/>
                </a:schemeClr>
              </a:buClr>
              <a:buNone/>
            </a:pPr>
            <a:endParaRPr lang="en-IN" sz="2000" dirty="0">
              <a:latin typeface="Bookman Old Style" panose="02050604050505020204" pitchFamily="18" charset="0"/>
            </a:endParaRPr>
          </a:p>
        </p:txBody>
      </p:sp>
      <p:sp>
        <p:nvSpPr>
          <p:cNvPr id="3" name="Slide Number Placeholder 2"/>
          <p:cNvSpPr>
            <a:spLocks noGrp="1"/>
          </p:cNvSpPr>
          <p:nvPr>
            <p:ph type="sldNum" sz="quarter" idx="12"/>
          </p:nvPr>
        </p:nvSpPr>
        <p:spPr/>
        <p:txBody>
          <a:bodyPr/>
          <a:lstStyle/>
          <a:p>
            <a:fld id="{6979DFC9-49C2-472C-8164-27EAFCE086AB}"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F934A7-E33C-A036-41C9-CFE6AC5FC360}"/>
              </a:ext>
            </a:extLst>
          </p:cNvPr>
          <p:cNvSpPr>
            <a:spLocks noGrp="1"/>
          </p:cNvSpPr>
          <p:nvPr>
            <p:ph type="sldNum" sz="quarter" idx="12"/>
          </p:nvPr>
        </p:nvSpPr>
        <p:spPr/>
        <p:txBody>
          <a:bodyPr/>
          <a:lstStyle/>
          <a:p>
            <a:fld id="{6979DFC9-49C2-472C-8164-27EAFCE086AB}" type="slidenum">
              <a:rPr lang="en-US" smtClean="0"/>
              <a:t>9</a:t>
            </a:fld>
            <a:endParaRPr lang="en-US"/>
          </a:p>
        </p:txBody>
      </p:sp>
      <p:sp>
        <p:nvSpPr>
          <p:cNvPr id="4" name="TextBox 3">
            <a:extLst>
              <a:ext uri="{FF2B5EF4-FFF2-40B4-BE49-F238E27FC236}">
                <a16:creationId xmlns:a16="http://schemas.microsoft.com/office/drawing/2014/main" id="{29078ABC-CEC8-0BBB-2D1F-1E41FDDEF6BB}"/>
              </a:ext>
            </a:extLst>
          </p:cNvPr>
          <p:cNvSpPr txBox="1"/>
          <p:nvPr/>
        </p:nvSpPr>
        <p:spPr>
          <a:xfrm>
            <a:off x="381000" y="1143000"/>
            <a:ext cx="7162800" cy="3788281"/>
          </a:xfrm>
          <a:prstGeom prst="rect">
            <a:avLst/>
          </a:prstGeom>
          <a:noFill/>
        </p:spPr>
        <p:txBody>
          <a:bodyPr wrap="square">
            <a:spAutoFit/>
          </a:bodyPr>
          <a:lstStyle/>
          <a:p>
            <a:pPr>
              <a:lnSpc>
                <a:spcPct val="150000"/>
              </a:lnSpc>
              <a:spcAft>
                <a:spcPts val="1000"/>
              </a:spcAft>
              <a:buNone/>
            </a:pPr>
            <a:r>
              <a:rPr lang="en-IN" sz="1800" b="1" dirty="0">
                <a:latin typeface="Bookman Old Style" panose="02050604050505020204" pitchFamily="18" charset="0"/>
                <a:ea typeface="Calibri" panose="020F0502020204030204" pitchFamily="34" charset="0"/>
                <a:cs typeface="Times New Roman" panose="02020603050405020304" pitchFamily="18" charset="0"/>
              </a:rPr>
              <a:t> </a:t>
            </a:r>
            <a:r>
              <a:rPr lang="en-IN" sz="2000" b="1" dirty="0">
                <a:latin typeface="Bookman Old Style" panose="02050604050505020204" pitchFamily="18" charset="0"/>
                <a:ea typeface="Calibri" panose="020F0502020204030204" pitchFamily="34" charset="0"/>
                <a:cs typeface="Times New Roman" panose="02020603050405020304" pitchFamily="18" charset="0"/>
              </a:rPr>
              <a:t>Software  Requirements</a:t>
            </a:r>
            <a:endParaRPr lang="en-IN" sz="2000" dirty="0">
              <a:latin typeface="Bookman Old Style" panose="02050604050505020204" pitchFamily="18" charset="0"/>
              <a:ea typeface="Calibri" panose="020F0502020204030204" pitchFamily="34" charset="0"/>
              <a:cs typeface="Times New Roman" panose="02020603050405020304" pitchFamily="18" charset="0"/>
            </a:endParaRPr>
          </a:p>
          <a:p>
            <a:pPr>
              <a:lnSpc>
                <a:spcPct val="150000"/>
              </a:lnSpc>
              <a:spcAft>
                <a:spcPts val="1000"/>
              </a:spcAft>
              <a:buNone/>
            </a:pPr>
            <a:r>
              <a:rPr lang="en-IN" sz="2000" dirty="0">
                <a:latin typeface="Bookman Old Style" panose="02050604050505020204" pitchFamily="18" charset="0"/>
                <a:ea typeface="Calibri" panose="020F0502020204030204" pitchFamily="34" charset="0"/>
                <a:cs typeface="Times New Roman" panose="02020603050405020304" pitchFamily="18" charset="0"/>
              </a:rPr>
              <a:t>                                                                                            Operating system:Windows7,8,10  </a:t>
            </a:r>
            <a:r>
              <a:rPr lang="en-IN" sz="2000" dirty="0" err="1">
                <a:latin typeface="Bookman Old Style" panose="02050604050505020204" pitchFamily="18" charset="0"/>
                <a:ea typeface="Calibri" panose="020F0502020204030204" pitchFamily="34" charset="0"/>
                <a:cs typeface="Times New Roman" panose="02020603050405020304" pitchFamily="18" charset="0"/>
              </a:rPr>
              <a:t>Ultimate,Linux,Mac</a:t>
            </a:r>
            <a:r>
              <a:rPr lang="en-IN" sz="2000" dirty="0">
                <a:latin typeface="Bookman Old Style" panose="02050604050505020204" pitchFamily="18" charset="0"/>
                <a:ea typeface="Calibri" panose="020F0502020204030204" pitchFamily="34" charset="0"/>
                <a:cs typeface="Times New Roman" panose="02020603050405020304" pitchFamily="18" charset="0"/>
              </a:rPr>
              <a:t>.                                                                                                                                             </a:t>
            </a:r>
          </a:p>
          <a:p>
            <a:pPr>
              <a:lnSpc>
                <a:spcPct val="150000"/>
              </a:lnSpc>
              <a:spcAft>
                <a:spcPts val="1000"/>
              </a:spcAft>
              <a:buNone/>
            </a:pPr>
            <a:r>
              <a:rPr lang="en-IN" sz="2000" dirty="0">
                <a:latin typeface="Bookman Old Style" panose="02050604050505020204" pitchFamily="18" charset="0"/>
                <a:ea typeface="Calibri" panose="020F0502020204030204" pitchFamily="34" charset="0"/>
                <a:cs typeface="Times New Roman" panose="02020603050405020304" pitchFamily="18" charset="0"/>
              </a:rPr>
              <a:t>Front-End	: Java                                                                                         </a:t>
            </a:r>
          </a:p>
          <a:p>
            <a:pPr>
              <a:lnSpc>
                <a:spcPct val="150000"/>
              </a:lnSpc>
              <a:spcAft>
                <a:spcPts val="1000"/>
              </a:spcAft>
              <a:buNone/>
            </a:pPr>
            <a:r>
              <a:rPr lang="en-IN" sz="2000" dirty="0">
                <a:latin typeface="Bookman Old Style" panose="02050604050505020204" pitchFamily="18" charset="0"/>
                <a:ea typeface="Calibri" panose="020F0502020204030204" pitchFamily="34" charset="0"/>
                <a:cs typeface="Times New Roman" panose="02020603050405020304" pitchFamily="18" charset="0"/>
              </a:rPr>
              <a:t>Coding Language: Java                                                                                        </a:t>
            </a:r>
          </a:p>
          <a:p>
            <a:pPr>
              <a:lnSpc>
                <a:spcPct val="150000"/>
              </a:lnSpc>
              <a:spcAft>
                <a:spcPts val="1000"/>
              </a:spcAft>
              <a:buNone/>
            </a:pPr>
            <a:r>
              <a:rPr lang="en-IN" sz="2000" dirty="0">
                <a:latin typeface="Bookman Old Style" panose="02050604050505020204" pitchFamily="18" charset="0"/>
                <a:ea typeface="Calibri" panose="020F0502020204030204" pitchFamily="34" charset="0"/>
                <a:cs typeface="Times New Roman" panose="02020603050405020304" pitchFamily="18" charset="0"/>
              </a:rPr>
              <a:t>Software Environment:</a:t>
            </a:r>
            <a:r>
              <a:rPr lang="en-IN" sz="2000" b="1" dirty="0"/>
              <a:t> </a:t>
            </a:r>
            <a:r>
              <a:rPr lang="en-IN" sz="2000" dirty="0" err="1"/>
              <a:t>PriModChain</a:t>
            </a:r>
            <a:r>
              <a:rPr lang="en-IN" sz="2000" dirty="0"/>
              <a:t> (</a:t>
            </a:r>
            <a:r>
              <a:rPr lang="en-IN" sz="2000" dirty="0" err="1"/>
              <a:t>IIoT</a:t>
            </a:r>
            <a:r>
              <a:rPr lang="en-IN" sz="2000" dirty="0"/>
              <a:t> + ML + Blockchain) </a:t>
            </a:r>
            <a:endParaRPr lang="en-IN" sz="2000" dirty="0">
              <a:latin typeface="Bookman Old Style" panose="020506040505050202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863184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2171" y="473307"/>
            <a:ext cx="8229600" cy="504825"/>
          </a:xfrm>
        </p:spPr>
        <p:txBody>
          <a:bodyPr>
            <a:normAutofit fontScale="90000"/>
          </a:bodyPr>
          <a:lstStyle/>
          <a:p>
            <a:r>
              <a:rPr lang="en-US" altLang="en-IN" b="1" dirty="0">
                <a:solidFill>
                  <a:schemeClr val="tx1">
                    <a:lumMod val="95000"/>
                    <a:lumOff val="5000"/>
                  </a:schemeClr>
                </a:solidFill>
                <a:latin typeface="Bookman Old Style" panose="02050604050505020204" pitchFamily="18" charset="0"/>
                <a:sym typeface="+mn-ea"/>
              </a:rPr>
              <a:t>OUTPUT RESULTS</a:t>
            </a:r>
          </a:p>
        </p:txBody>
      </p:sp>
      <p:sp>
        <p:nvSpPr>
          <p:cNvPr id="4" name="Slide Number Placeholder 3"/>
          <p:cNvSpPr>
            <a:spLocks noGrp="1"/>
          </p:cNvSpPr>
          <p:nvPr>
            <p:ph type="sldNum" sz="quarter" idx="12"/>
          </p:nvPr>
        </p:nvSpPr>
        <p:spPr/>
        <p:txBody>
          <a:bodyPr/>
          <a:lstStyle/>
          <a:p>
            <a:fld id="{6979DFC9-49C2-472C-8164-27EAFCE086AB}" type="slidenum">
              <a:rPr lang="en-US" smtClean="0"/>
              <a:t>10</a:t>
            </a:fld>
            <a:endParaRPr lang="en-US"/>
          </a:p>
        </p:txBody>
      </p:sp>
      <p:pic>
        <p:nvPicPr>
          <p:cNvPr id="8" name="Picture 7">
            <a:extLst>
              <a:ext uri="{FF2B5EF4-FFF2-40B4-BE49-F238E27FC236}">
                <a16:creationId xmlns:a16="http://schemas.microsoft.com/office/drawing/2014/main" id="{27505A54-68BD-D7E9-102D-F2EB0C248B3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3273" y="1219200"/>
            <a:ext cx="3935627" cy="2209800"/>
          </a:xfrm>
          <a:prstGeom prst="rect">
            <a:avLst/>
          </a:prstGeom>
        </p:spPr>
      </p:pic>
      <p:pic>
        <p:nvPicPr>
          <p:cNvPr id="12" name="Picture 11">
            <a:extLst>
              <a:ext uri="{FF2B5EF4-FFF2-40B4-BE49-F238E27FC236}">
                <a16:creationId xmlns:a16="http://schemas.microsoft.com/office/drawing/2014/main" id="{5148C1ED-C77B-A4E0-FAB4-ED2DBDE78C3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69928" y="1219200"/>
            <a:ext cx="4097609" cy="2286730"/>
          </a:xfrm>
          <a:prstGeom prst="rect">
            <a:avLst/>
          </a:prstGeom>
        </p:spPr>
      </p:pic>
      <p:pic>
        <p:nvPicPr>
          <p:cNvPr id="14" name="Picture 13">
            <a:extLst>
              <a:ext uri="{FF2B5EF4-FFF2-40B4-BE49-F238E27FC236}">
                <a16:creationId xmlns:a16="http://schemas.microsoft.com/office/drawing/2014/main" id="{1C02DB03-8D67-342A-43F7-78C8B01D4B2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0349" y="4098487"/>
            <a:ext cx="4084988" cy="2293630"/>
          </a:xfrm>
          <a:prstGeom prst="rect">
            <a:avLst/>
          </a:prstGeom>
        </p:spPr>
      </p:pic>
      <p:pic>
        <p:nvPicPr>
          <p:cNvPr id="16" name="Picture 15">
            <a:extLst>
              <a:ext uri="{FF2B5EF4-FFF2-40B4-BE49-F238E27FC236}">
                <a16:creationId xmlns:a16="http://schemas.microsoft.com/office/drawing/2014/main" id="{EB3223C9-3F36-24DB-B760-9E92C8A0507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13109" y="4062720"/>
            <a:ext cx="4097609" cy="229363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5DA7433-090E-AB34-278E-41201977096F}"/>
              </a:ext>
            </a:extLst>
          </p:cNvPr>
          <p:cNvSpPr>
            <a:spLocks noGrp="1"/>
          </p:cNvSpPr>
          <p:nvPr>
            <p:ph type="sldNum" sz="quarter" idx="12"/>
          </p:nvPr>
        </p:nvSpPr>
        <p:spPr/>
        <p:txBody>
          <a:bodyPr/>
          <a:lstStyle/>
          <a:p>
            <a:fld id="{6979DFC9-49C2-472C-8164-27EAFCE086AB}" type="slidenum">
              <a:rPr lang="en-US" smtClean="0"/>
              <a:t>11</a:t>
            </a:fld>
            <a:endParaRPr lang="en-US"/>
          </a:p>
        </p:txBody>
      </p:sp>
      <p:pic>
        <p:nvPicPr>
          <p:cNvPr id="11" name="Content Placeholder 10">
            <a:extLst>
              <a:ext uri="{FF2B5EF4-FFF2-40B4-BE49-F238E27FC236}">
                <a16:creationId xmlns:a16="http://schemas.microsoft.com/office/drawing/2014/main" id="{B30CFFB5-8162-8347-893D-942551FCA49A}"/>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57201" y="1066800"/>
            <a:ext cx="3733800" cy="2209800"/>
          </a:xfrm>
        </p:spPr>
      </p:pic>
      <p:pic>
        <p:nvPicPr>
          <p:cNvPr id="15" name="Picture 14">
            <a:extLst>
              <a:ext uri="{FF2B5EF4-FFF2-40B4-BE49-F238E27FC236}">
                <a16:creationId xmlns:a16="http://schemas.microsoft.com/office/drawing/2014/main" id="{7DDAD32D-8C8F-0D47-1ABB-30F8A11F77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61640" y="1219200"/>
            <a:ext cx="3994394" cy="1981200"/>
          </a:xfrm>
          <a:prstGeom prst="rect">
            <a:avLst/>
          </a:prstGeom>
        </p:spPr>
      </p:pic>
      <p:pic>
        <p:nvPicPr>
          <p:cNvPr id="17" name="Picture 16">
            <a:extLst>
              <a:ext uri="{FF2B5EF4-FFF2-40B4-BE49-F238E27FC236}">
                <a16:creationId xmlns:a16="http://schemas.microsoft.com/office/drawing/2014/main" id="{F711079D-737E-1395-2260-DA9F83F18ED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7202" y="4127776"/>
            <a:ext cx="3733800" cy="2221597"/>
          </a:xfrm>
          <a:prstGeom prst="rect">
            <a:avLst/>
          </a:prstGeom>
        </p:spPr>
      </p:pic>
      <p:pic>
        <p:nvPicPr>
          <p:cNvPr id="21" name="Picture 20">
            <a:extLst>
              <a:ext uri="{FF2B5EF4-FFF2-40B4-BE49-F238E27FC236}">
                <a16:creationId xmlns:a16="http://schemas.microsoft.com/office/drawing/2014/main" id="{584600AB-27D1-F03A-E454-81DDF8C6BF7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95597" y="4108316"/>
            <a:ext cx="3951106" cy="2217730"/>
          </a:xfrm>
          <a:prstGeom prst="rect">
            <a:avLst/>
          </a:prstGeom>
        </p:spPr>
      </p:pic>
    </p:spTree>
    <p:extLst>
      <p:ext uri="{BB962C8B-B14F-4D97-AF65-F5344CB8AC3E}">
        <p14:creationId xmlns:p14="http://schemas.microsoft.com/office/powerpoint/2010/main" val="11243912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C695D085-5F44-5662-E69E-77C740D4E63F}"/>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04800" y="990600"/>
            <a:ext cx="3925130" cy="2194719"/>
          </a:xfrm>
        </p:spPr>
      </p:pic>
      <p:sp>
        <p:nvSpPr>
          <p:cNvPr id="4" name="Slide Number Placeholder 3">
            <a:extLst>
              <a:ext uri="{FF2B5EF4-FFF2-40B4-BE49-F238E27FC236}">
                <a16:creationId xmlns:a16="http://schemas.microsoft.com/office/drawing/2014/main" id="{C8F4F57E-12F4-A798-1519-5CED411B77FE}"/>
              </a:ext>
            </a:extLst>
          </p:cNvPr>
          <p:cNvSpPr>
            <a:spLocks noGrp="1"/>
          </p:cNvSpPr>
          <p:nvPr>
            <p:ph type="sldNum" sz="quarter" idx="12"/>
          </p:nvPr>
        </p:nvSpPr>
        <p:spPr/>
        <p:txBody>
          <a:bodyPr/>
          <a:lstStyle/>
          <a:p>
            <a:fld id="{6979DFC9-49C2-472C-8164-27EAFCE086AB}" type="slidenum">
              <a:rPr lang="en-US" smtClean="0"/>
              <a:t>12</a:t>
            </a:fld>
            <a:endParaRPr lang="en-US"/>
          </a:p>
        </p:txBody>
      </p:sp>
      <p:pic>
        <p:nvPicPr>
          <p:cNvPr id="8" name="Picture 7">
            <a:extLst>
              <a:ext uri="{FF2B5EF4-FFF2-40B4-BE49-F238E27FC236}">
                <a16:creationId xmlns:a16="http://schemas.microsoft.com/office/drawing/2014/main" id="{6738072C-B316-F52E-4198-F020C502338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24624" y="990600"/>
            <a:ext cx="4014576" cy="2194719"/>
          </a:xfrm>
          <a:prstGeom prst="rect">
            <a:avLst/>
          </a:prstGeom>
        </p:spPr>
      </p:pic>
      <p:pic>
        <p:nvPicPr>
          <p:cNvPr id="10" name="Picture 9">
            <a:extLst>
              <a:ext uri="{FF2B5EF4-FFF2-40B4-BE49-F238E27FC236}">
                <a16:creationId xmlns:a16="http://schemas.microsoft.com/office/drawing/2014/main" id="{7B280350-C374-2EBF-2D78-74778AEAFD7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800" y="3962400"/>
            <a:ext cx="3925131" cy="2194719"/>
          </a:xfrm>
          <a:prstGeom prst="rect">
            <a:avLst/>
          </a:prstGeom>
        </p:spPr>
      </p:pic>
      <p:pic>
        <p:nvPicPr>
          <p:cNvPr id="12" name="Picture 11">
            <a:extLst>
              <a:ext uri="{FF2B5EF4-FFF2-40B4-BE49-F238E27FC236}">
                <a16:creationId xmlns:a16="http://schemas.microsoft.com/office/drawing/2014/main" id="{E6A6E948-543A-15F1-F879-12328EA475E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35737" y="3962401"/>
            <a:ext cx="3951063" cy="2208862"/>
          </a:xfrm>
          <a:prstGeom prst="rect">
            <a:avLst/>
          </a:prstGeom>
        </p:spPr>
      </p:pic>
    </p:spTree>
    <p:extLst>
      <p:ext uri="{BB962C8B-B14F-4D97-AF65-F5344CB8AC3E}">
        <p14:creationId xmlns:p14="http://schemas.microsoft.com/office/powerpoint/2010/main" val="12723737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lstStyle/>
          <a:p>
            <a:r>
              <a:rPr lang="en-IN" sz="3600" b="1" dirty="0">
                <a:solidFill>
                  <a:schemeClr val="tx1">
                    <a:lumMod val="95000"/>
                    <a:lumOff val="5000"/>
                  </a:schemeClr>
                </a:solidFill>
                <a:latin typeface="Bookman Old Style" panose="02050604050505020204" pitchFamily="18" charset="0"/>
              </a:rPr>
              <a:t>ADVANTAGES:</a:t>
            </a:r>
            <a:endParaRPr lang="en-IN" b="1" dirty="0">
              <a:solidFill>
                <a:schemeClr val="tx1">
                  <a:lumMod val="95000"/>
                  <a:lumOff val="5000"/>
                </a:schemeClr>
              </a:solidFill>
              <a:latin typeface="Bookman Old Style" panose="02050604050505020204" pitchFamily="18" charset="0"/>
            </a:endParaRPr>
          </a:p>
        </p:txBody>
      </p:sp>
      <p:sp>
        <p:nvSpPr>
          <p:cNvPr id="3" name="Content Placeholder 2"/>
          <p:cNvSpPr>
            <a:spLocks noGrp="1"/>
          </p:cNvSpPr>
          <p:nvPr>
            <p:ph idx="1"/>
          </p:nvPr>
        </p:nvSpPr>
        <p:spPr>
          <a:xfrm>
            <a:off x="304800" y="1524000"/>
            <a:ext cx="7848600" cy="5334000"/>
          </a:xfrm>
        </p:spPr>
        <p:txBody>
          <a:bodyPr>
            <a:noAutofit/>
          </a:bodyPr>
          <a:lstStyle/>
          <a:p>
            <a:pPr algn="just">
              <a:lnSpc>
                <a:spcPct val="120000"/>
              </a:lnSpc>
              <a:tabLst>
                <a:tab pos="457200" algn="l"/>
              </a:tabLst>
            </a:pPr>
            <a:r>
              <a:rPr lang="en-IN" sz="2000" b="1" dirty="0"/>
              <a:t>Privacy Protection</a:t>
            </a:r>
            <a:r>
              <a:rPr lang="en-US" sz="2000" b="1" dirty="0">
                <a:effectLst/>
                <a:latin typeface="Bookman Old Style" panose="02050604050505020204" pitchFamily="18" charset="0"/>
                <a:ea typeface="Times New Roman" panose="02020603050405020304" pitchFamily="18" charset="0"/>
              </a:rPr>
              <a:t>: </a:t>
            </a:r>
            <a:r>
              <a:rPr lang="en-US" sz="2000" dirty="0" err="1"/>
              <a:t>PriModChain</a:t>
            </a:r>
            <a:r>
              <a:rPr lang="en-US" sz="2000" dirty="0"/>
              <a:t> uses Federated Learning and Differential Privacy to ensure that raw data remains with the data owners, reducing the risk of data leakage and protecting sensitive information. </a:t>
            </a:r>
          </a:p>
          <a:p>
            <a:pPr algn="just">
              <a:lnSpc>
                <a:spcPct val="120000"/>
              </a:lnSpc>
              <a:tabLst>
                <a:tab pos="457200" algn="l"/>
              </a:tabLst>
            </a:pPr>
            <a:r>
              <a:rPr lang="en-IN" sz="2000" b="1" dirty="0"/>
              <a:t>High Security</a:t>
            </a:r>
            <a:r>
              <a:rPr lang="en-US" sz="2000" b="1" dirty="0">
                <a:effectLst/>
                <a:latin typeface="Bookman Old Style" panose="02050604050505020204" pitchFamily="18" charset="0"/>
                <a:ea typeface="Times New Roman" panose="02020603050405020304" pitchFamily="18" charset="0"/>
              </a:rPr>
              <a:t>:</a:t>
            </a:r>
            <a:r>
              <a:rPr lang="en-US" sz="2000" dirty="0"/>
              <a:t>The use of Blockchain and Smart Contracts provides strong security by preventing unauthorized changes and ensuring tamper-proof operations.</a:t>
            </a:r>
            <a:endParaRPr lang="en-IN" sz="2000" dirty="0">
              <a:effectLst/>
              <a:latin typeface="Bookman Old Style" panose="02050604050505020204" pitchFamily="18" charset="0"/>
              <a:ea typeface="Times New Roman" panose="02020603050405020304" pitchFamily="18" charset="0"/>
            </a:endParaRPr>
          </a:p>
          <a:p>
            <a:pPr algn="just">
              <a:lnSpc>
                <a:spcPct val="120000"/>
              </a:lnSpc>
              <a:tabLst>
                <a:tab pos="457200" algn="l"/>
              </a:tabLst>
            </a:pPr>
            <a:r>
              <a:rPr lang="en-IN" sz="2000" b="1" dirty="0"/>
              <a:t>Transparency &amp; Traceability</a:t>
            </a:r>
            <a:r>
              <a:rPr lang="en-US" sz="2000" b="1" dirty="0">
                <a:effectLst/>
                <a:latin typeface="Bookman Old Style" panose="02050604050505020204" pitchFamily="18" charset="0"/>
                <a:ea typeface="Times New Roman" panose="02020603050405020304" pitchFamily="18" charset="0"/>
              </a:rPr>
              <a:t>:</a:t>
            </a:r>
            <a:r>
              <a:rPr lang="en-US" sz="2000" dirty="0"/>
              <a:t>Blockchain records all transactions permanently, allowing easy tracking and verification of model updates and data exchanges.</a:t>
            </a:r>
          </a:p>
          <a:p>
            <a:pPr algn="just">
              <a:lnSpc>
                <a:spcPct val="120000"/>
              </a:lnSpc>
              <a:tabLst>
                <a:tab pos="457200" algn="l"/>
              </a:tabLst>
            </a:pPr>
            <a:r>
              <a:rPr lang="en-US" sz="2000" b="1" dirty="0"/>
              <a:t>Decentralized Storage:</a:t>
            </a:r>
            <a:r>
              <a:rPr lang="en-US" sz="2000" dirty="0"/>
              <a:t> IPFS enables secure and low-latency decentralized storage, ensuring fast access and safe sharing of ML models.</a:t>
            </a:r>
            <a:endParaRPr lang="en-IN" sz="2000" dirty="0"/>
          </a:p>
        </p:txBody>
      </p:sp>
      <p:sp>
        <p:nvSpPr>
          <p:cNvPr id="4" name="Slide Number Placeholder 3"/>
          <p:cNvSpPr>
            <a:spLocks noGrp="1"/>
          </p:cNvSpPr>
          <p:nvPr>
            <p:ph type="sldNum" sz="quarter" idx="12"/>
          </p:nvPr>
        </p:nvSpPr>
        <p:spPr/>
        <p:txBody>
          <a:bodyPr/>
          <a:lstStyle/>
          <a:p>
            <a:fld id="{6979DFC9-49C2-472C-8164-27EAFCE086AB}"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3812"/>
            <a:ext cx="8229600" cy="1143000"/>
          </a:xfrm>
        </p:spPr>
        <p:txBody>
          <a:bodyPr/>
          <a:lstStyle/>
          <a:p>
            <a:r>
              <a:rPr lang="en-IN" sz="3600" b="1" dirty="0">
                <a:solidFill>
                  <a:schemeClr val="tx1">
                    <a:lumMod val="95000"/>
                    <a:lumOff val="5000"/>
                  </a:schemeClr>
                </a:solidFill>
                <a:latin typeface="Bookman Old Style" panose="02050604050505020204" pitchFamily="18" charset="0"/>
              </a:rPr>
              <a:t>APPLICATIONS:</a:t>
            </a:r>
            <a:endParaRPr lang="en-IN" b="1" dirty="0">
              <a:solidFill>
                <a:schemeClr val="tx1">
                  <a:lumMod val="95000"/>
                  <a:lumOff val="5000"/>
                </a:schemeClr>
              </a:solidFill>
              <a:latin typeface="Bookman Old Style" panose="02050604050505020204" pitchFamily="18" charset="0"/>
            </a:endParaRPr>
          </a:p>
        </p:txBody>
      </p:sp>
      <p:sp>
        <p:nvSpPr>
          <p:cNvPr id="3" name="Content Placeholder 2"/>
          <p:cNvSpPr>
            <a:spLocks noGrp="1"/>
          </p:cNvSpPr>
          <p:nvPr>
            <p:ph idx="1"/>
          </p:nvPr>
        </p:nvSpPr>
        <p:spPr>
          <a:xfrm>
            <a:off x="381000" y="1722021"/>
            <a:ext cx="8229600" cy="4389120"/>
          </a:xfrm>
        </p:spPr>
        <p:txBody>
          <a:bodyPr>
            <a:normAutofit/>
          </a:bodyPr>
          <a:lstStyle/>
          <a:p>
            <a:pPr algn="just">
              <a:lnSpc>
                <a:spcPct val="110000"/>
              </a:lnSpc>
              <a:buClr>
                <a:schemeClr val="tx1">
                  <a:lumMod val="95000"/>
                  <a:lumOff val="5000"/>
                </a:schemeClr>
              </a:buClr>
            </a:pPr>
            <a:r>
              <a:rPr lang="en-US" sz="2000" dirty="0"/>
              <a:t>Monitoring and optimizing energy production and consumption in smart grids and energy systems.</a:t>
            </a:r>
            <a:endParaRPr lang="en-IN" sz="2000" dirty="0">
              <a:latin typeface="Bookman Old Style" panose="02050604050505020204" pitchFamily="18" charset="0"/>
            </a:endParaRPr>
          </a:p>
          <a:p>
            <a:pPr algn="just">
              <a:lnSpc>
                <a:spcPct val="110000"/>
              </a:lnSpc>
              <a:buClr>
                <a:schemeClr val="tx1">
                  <a:lumMod val="95000"/>
                  <a:lumOff val="5000"/>
                </a:schemeClr>
              </a:buClr>
            </a:pPr>
            <a:r>
              <a:rPr lang="en-US" sz="2000" dirty="0"/>
              <a:t>Secure sharing of medical data and machine learning models in healthcare while protecting patient privacy.</a:t>
            </a:r>
          </a:p>
          <a:p>
            <a:pPr algn="just">
              <a:lnSpc>
                <a:spcPct val="110000"/>
              </a:lnSpc>
              <a:buClr>
                <a:schemeClr val="tx1">
                  <a:lumMod val="95000"/>
                  <a:lumOff val="5000"/>
                </a:schemeClr>
              </a:buClr>
            </a:pPr>
            <a:r>
              <a:rPr lang="en-US" sz="2000" dirty="0"/>
              <a:t>Improving traffic management, vehicle monitoring, and supply chain operations in transportation and logistics.</a:t>
            </a:r>
            <a:endParaRPr lang="en-IN" sz="2000" dirty="0">
              <a:latin typeface="Bookman Old Style" panose="02050604050505020204" pitchFamily="18" charset="0"/>
            </a:endParaRPr>
          </a:p>
          <a:p>
            <a:pPr algn="just">
              <a:buClr>
                <a:schemeClr val="tx1">
                  <a:lumMod val="95000"/>
                  <a:lumOff val="5000"/>
                </a:schemeClr>
              </a:buClr>
            </a:pPr>
            <a:r>
              <a:rPr lang="en-US" sz="2000" dirty="0"/>
              <a:t>Collecting and analyzing agricultural data for crop monitoring and precision farming.</a:t>
            </a:r>
          </a:p>
          <a:p>
            <a:pPr algn="just">
              <a:buClr>
                <a:schemeClr val="tx1">
                  <a:lumMod val="95000"/>
                  <a:lumOff val="5000"/>
                </a:schemeClr>
              </a:buClr>
            </a:pPr>
            <a:r>
              <a:rPr lang="en-US" sz="2000" dirty="0"/>
              <a:t>Supporting predictive maintenance and quality control in industrial automation and manufacturing.</a:t>
            </a:r>
            <a:endParaRPr lang="en-IN" sz="2000" dirty="0">
              <a:latin typeface="Bookman Old Style" panose="02050604050505020204" pitchFamily="18" charset="0"/>
            </a:endParaRPr>
          </a:p>
          <a:p>
            <a:pPr algn="just">
              <a:buClr>
                <a:schemeClr val="tx1">
                  <a:lumMod val="95000"/>
                  <a:lumOff val="5000"/>
                </a:schemeClr>
              </a:buClr>
            </a:pPr>
            <a:r>
              <a:rPr lang="en-US" sz="2000" dirty="0"/>
              <a:t>Enabling secure and intelligent services in smart cities such as surveillance and infrastructure management.</a:t>
            </a:r>
          </a:p>
          <a:p>
            <a:pPr algn="just">
              <a:buClr>
                <a:schemeClr val="tx1">
                  <a:lumMod val="95000"/>
                  <a:lumOff val="5000"/>
                </a:schemeClr>
              </a:buClr>
            </a:pPr>
            <a:endParaRPr lang="en-IN" sz="2000" dirty="0"/>
          </a:p>
        </p:txBody>
      </p:sp>
      <p:sp>
        <p:nvSpPr>
          <p:cNvPr id="4" name="Slide Number Placeholder 3"/>
          <p:cNvSpPr>
            <a:spLocks noGrp="1"/>
          </p:cNvSpPr>
          <p:nvPr>
            <p:ph type="sldNum" sz="quarter" idx="12"/>
          </p:nvPr>
        </p:nvSpPr>
        <p:spPr/>
        <p:txBody>
          <a:bodyPr/>
          <a:lstStyle/>
          <a:p>
            <a:fld id="{6979DFC9-49C2-472C-8164-27EAFCE086AB}"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70893"/>
            <a:ext cx="8229600" cy="1143000"/>
          </a:xfrm>
        </p:spPr>
        <p:txBody>
          <a:bodyPr/>
          <a:lstStyle/>
          <a:p>
            <a:r>
              <a:rPr lang="en-IN" sz="3600" b="1" dirty="0">
                <a:solidFill>
                  <a:schemeClr val="tx1">
                    <a:lumMod val="95000"/>
                    <a:lumOff val="5000"/>
                  </a:schemeClr>
                </a:solidFill>
                <a:latin typeface="Bookman Old Style" panose="02050604050505020204" pitchFamily="18" charset="0"/>
              </a:rPr>
              <a:t>CONCLUSION:</a:t>
            </a:r>
            <a:endParaRPr lang="en-IN" b="1" dirty="0">
              <a:solidFill>
                <a:schemeClr val="tx1">
                  <a:lumMod val="95000"/>
                  <a:lumOff val="5000"/>
                </a:schemeClr>
              </a:solidFill>
              <a:latin typeface="Bookman Old Style" panose="02050604050505020204" pitchFamily="18" charset="0"/>
            </a:endParaRPr>
          </a:p>
        </p:txBody>
      </p:sp>
      <p:sp>
        <p:nvSpPr>
          <p:cNvPr id="3" name="Content Placeholder 2"/>
          <p:cNvSpPr>
            <a:spLocks noGrp="1"/>
          </p:cNvSpPr>
          <p:nvPr>
            <p:ph idx="1"/>
          </p:nvPr>
        </p:nvSpPr>
        <p:spPr/>
        <p:txBody>
          <a:bodyPr>
            <a:normAutofit/>
          </a:bodyPr>
          <a:lstStyle/>
          <a:p>
            <a:pPr marL="0" indent="0">
              <a:buClr>
                <a:schemeClr val="tx1">
                  <a:lumMod val="95000"/>
                  <a:lumOff val="5000"/>
                </a:schemeClr>
              </a:buClr>
              <a:buNone/>
            </a:pPr>
            <a:r>
              <a:rPr lang="en-US" sz="1800" dirty="0">
                <a:effectLst/>
                <a:latin typeface="Bookman Old Style" panose="02050604050505020204" pitchFamily="18" charset="0"/>
                <a:ea typeface="Calibri" panose="020F0502020204030204" pitchFamily="34" charset="0"/>
              </a:rPr>
              <a:t> </a:t>
            </a:r>
            <a:endParaRPr lang="en-IN" sz="2400" dirty="0">
              <a:latin typeface="Bookman Old Style" panose="02050604050505020204" pitchFamily="18" charset="0"/>
            </a:endParaRPr>
          </a:p>
        </p:txBody>
      </p:sp>
      <p:sp>
        <p:nvSpPr>
          <p:cNvPr id="4" name="Slide Number Placeholder 3"/>
          <p:cNvSpPr>
            <a:spLocks noGrp="1"/>
          </p:cNvSpPr>
          <p:nvPr>
            <p:ph type="sldNum" sz="quarter" idx="12"/>
          </p:nvPr>
        </p:nvSpPr>
        <p:spPr/>
        <p:txBody>
          <a:bodyPr/>
          <a:lstStyle/>
          <a:p>
            <a:fld id="{6979DFC9-49C2-472C-8164-27EAFCE086AB}" type="slidenum">
              <a:rPr lang="en-US" smtClean="0"/>
              <a:t>15</a:t>
            </a:fld>
            <a:endParaRPr lang="en-US"/>
          </a:p>
        </p:txBody>
      </p:sp>
      <p:sp>
        <p:nvSpPr>
          <p:cNvPr id="6" name="TextBox 5">
            <a:extLst>
              <a:ext uri="{FF2B5EF4-FFF2-40B4-BE49-F238E27FC236}">
                <a16:creationId xmlns:a16="http://schemas.microsoft.com/office/drawing/2014/main" id="{881E9EFA-BEDD-BD29-E216-3CE30F03F7F0}"/>
              </a:ext>
            </a:extLst>
          </p:cNvPr>
          <p:cNvSpPr txBox="1"/>
          <p:nvPr/>
        </p:nvSpPr>
        <p:spPr>
          <a:xfrm>
            <a:off x="457200" y="1676400"/>
            <a:ext cx="7803502" cy="4575355"/>
          </a:xfrm>
          <a:prstGeom prst="rect">
            <a:avLst/>
          </a:prstGeom>
          <a:noFill/>
        </p:spPr>
        <p:txBody>
          <a:bodyPr wrap="square">
            <a:spAutoFit/>
          </a:bodyPr>
          <a:lstStyle/>
          <a:p>
            <a:pPr marL="342900" indent="-342900" algn="just">
              <a:lnSpc>
                <a:spcPct val="115000"/>
              </a:lnSpc>
              <a:spcAft>
                <a:spcPts val="1000"/>
              </a:spcAft>
              <a:buFont typeface="Arial" panose="020B0604020202020204" pitchFamily="34" charset="0"/>
              <a:buChar char="•"/>
            </a:pPr>
            <a:r>
              <a:rPr lang="en-US" sz="2000" dirty="0">
                <a:effectLst/>
                <a:latin typeface="Bookman Old Style" panose="02050604050505020204" pitchFamily="18" charset="0"/>
                <a:ea typeface="Times New Roman" panose="02020603050405020304" pitchFamily="18" charset="0"/>
                <a:cs typeface="Times New Roman" panose="02020603050405020304" pitchFamily="18" charset="0"/>
              </a:rPr>
              <a:t>The </a:t>
            </a:r>
            <a:r>
              <a:rPr lang="en-US" sz="2000" b="1" dirty="0" err="1"/>
              <a:t>PriModChain</a:t>
            </a:r>
            <a:r>
              <a:rPr lang="en-US" sz="2000" dirty="0"/>
              <a:t> is a novel framework developed for trustworthy and privacy-preserving machine learning and model sharing in </a:t>
            </a:r>
            <a:r>
              <a:rPr lang="en-US" sz="2000" dirty="0" err="1"/>
              <a:t>IIoT</a:t>
            </a:r>
            <a:r>
              <a:rPr lang="en-US" sz="2000" dirty="0"/>
              <a:t> environments, addressing key issues of data privacy and trust.</a:t>
            </a:r>
          </a:p>
          <a:p>
            <a:pPr marL="342900" indent="-342900" algn="just">
              <a:lnSpc>
                <a:spcPct val="115000"/>
              </a:lnSpc>
              <a:spcAft>
                <a:spcPts val="1000"/>
              </a:spcAft>
              <a:buFont typeface="Arial" panose="020B0604020202020204" pitchFamily="34" charset="0"/>
              <a:buChar char="•"/>
            </a:pPr>
            <a:r>
              <a:rPr lang="en-US" sz="2000" dirty="0">
                <a:effectLst/>
                <a:latin typeface="Bookman Old Style" panose="02050604050505020204" pitchFamily="18" charset="0"/>
                <a:ea typeface="Times New Roman" panose="02020603050405020304" pitchFamily="18" charset="0"/>
                <a:cs typeface="Times New Roman" panose="02020603050405020304" pitchFamily="18" charset="0"/>
              </a:rPr>
              <a:t>Overall, this project highlights that </a:t>
            </a:r>
            <a:r>
              <a:rPr lang="en-US" sz="2000" dirty="0" err="1"/>
              <a:t>PriModChain</a:t>
            </a:r>
            <a:r>
              <a:rPr lang="en-US" sz="2000" dirty="0"/>
              <a:t> provides a secure, privacy-preserving, and trustworthy machine learning framework for </a:t>
            </a:r>
            <a:r>
              <a:rPr lang="en-US" sz="2000" dirty="0" err="1"/>
              <a:t>IIoT</a:t>
            </a:r>
            <a:r>
              <a:rPr lang="en-US" sz="2000" dirty="0"/>
              <a:t> by combining Federated Learning, Differential Privacy, Blockchain, Smart Contracts, and IPFS to enable safe and decentralized model training and sharing.</a:t>
            </a:r>
          </a:p>
          <a:p>
            <a:pPr marL="342900" indent="-342900" algn="just">
              <a:lnSpc>
                <a:spcPct val="115000"/>
              </a:lnSpc>
              <a:spcAft>
                <a:spcPts val="1000"/>
              </a:spcAft>
              <a:buFont typeface="Arial" panose="020B0604020202020204" pitchFamily="34" charset="0"/>
              <a:buChar char="•"/>
            </a:pPr>
            <a:r>
              <a:rPr lang="en-US" sz="2000" dirty="0">
                <a:effectLst/>
                <a:latin typeface="Bookman Old Style" panose="02050604050505020204" pitchFamily="18" charset="0"/>
                <a:ea typeface="Times New Roman" panose="02020603050405020304" pitchFamily="18" charset="0"/>
                <a:cs typeface="Times New Roman" panose="02020603050405020304" pitchFamily="18" charset="0"/>
              </a:rPr>
              <a:t>Future enhancements may include </a:t>
            </a:r>
            <a:r>
              <a:rPr lang="en-US" sz="2000" dirty="0"/>
              <a:t>reducing latency and optimizing efficiency to further improve system performance in real-world </a:t>
            </a:r>
            <a:r>
              <a:rPr lang="en-US" sz="2000" dirty="0" err="1"/>
              <a:t>IIoT</a:t>
            </a:r>
            <a:r>
              <a:rPr lang="en-US" sz="2000" dirty="0"/>
              <a:t> deployments.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6542" y="533400"/>
            <a:ext cx="8229600" cy="1143000"/>
          </a:xfrm>
        </p:spPr>
        <p:txBody>
          <a:bodyPr/>
          <a:lstStyle/>
          <a:p>
            <a:r>
              <a:rPr lang="en-IN" sz="4000" b="1" dirty="0">
                <a:solidFill>
                  <a:schemeClr val="tx1">
                    <a:lumMod val="95000"/>
                    <a:lumOff val="5000"/>
                  </a:schemeClr>
                </a:solidFill>
                <a:latin typeface="Bookman Old Style" panose="02050604050505020204" pitchFamily="18" charset="0"/>
              </a:rPr>
              <a:t>FUTURE SCOPE:</a:t>
            </a:r>
            <a:endParaRPr lang="en-IN" b="1" dirty="0">
              <a:solidFill>
                <a:schemeClr val="tx1">
                  <a:lumMod val="95000"/>
                  <a:lumOff val="5000"/>
                </a:schemeClr>
              </a:solidFill>
              <a:latin typeface="Bookman Old Style" panose="02050604050505020204" pitchFamily="18" charset="0"/>
            </a:endParaRPr>
          </a:p>
        </p:txBody>
      </p:sp>
      <p:sp>
        <p:nvSpPr>
          <p:cNvPr id="3" name="Content Placeholder 2"/>
          <p:cNvSpPr>
            <a:spLocks noGrp="1"/>
          </p:cNvSpPr>
          <p:nvPr>
            <p:ph idx="1"/>
          </p:nvPr>
        </p:nvSpPr>
        <p:spPr>
          <a:xfrm>
            <a:off x="457200" y="1935480"/>
            <a:ext cx="8001000" cy="4389120"/>
          </a:xfrm>
        </p:spPr>
        <p:txBody>
          <a:bodyPr>
            <a:normAutofit/>
          </a:bodyPr>
          <a:lstStyle/>
          <a:p>
            <a:pPr algn="just">
              <a:buClr>
                <a:schemeClr val="tx1">
                  <a:lumMod val="95000"/>
                  <a:lumOff val="5000"/>
                </a:schemeClr>
              </a:buClr>
            </a:pPr>
            <a:r>
              <a:rPr lang="en-US" sz="2000" dirty="0"/>
              <a:t>The system can be expanded to support large-scale </a:t>
            </a:r>
            <a:r>
              <a:rPr lang="en-US" sz="2000" dirty="0" err="1"/>
              <a:t>IIoT</a:t>
            </a:r>
            <a:r>
              <a:rPr lang="en-US" sz="2000" dirty="0"/>
              <a:t> networks and real-time data processing for better scalability.</a:t>
            </a:r>
            <a:endParaRPr lang="en-IN" sz="2000" dirty="0">
              <a:latin typeface="Bookman Old Style" panose="02050604050505020204" pitchFamily="18" charset="0"/>
            </a:endParaRPr>
          </a:p>
          <a:p>
            <a:pPr algn="just">
              <a:buClr>
                <a:schemeClr val="tx1">
                  <a:lumMod val="95000"/>
                  <a:lumOff val="5000"/>
                </a:schemeClr>
              </a:buClr>
            </a:pPr>
            <a:r>
              <a:rPr lang="en-US" sz="2000" dirty="0"/>
              <a:t>Advanced AI and deep learning models can be integrated to improve accuracy and automation. </a:t>
            </a:r>
          </a:p>
          <a:p>
            <a:pPr algn="just">
              <a:buClr>
                <a:schemeClr val="tx1">
                  <a:lumMod val="95000"/>
                  <a:lumOff val="5000"/>
                </a:schemeClr>
              </a:buClr>
            </a:pPr>
            <a:r>
              <a:rPr lang="en-US" sz="2000" dirty="0"/>
              <a:t>Stronger security methods can be added to protect against cyber threats and data breaches.</a:t>
            </a:r>
            <a:endParaRPr lang="en-IN" sz="2000" dirty="0">
              <a:latin typeface="Bookman Old Style" panose="02050604050505020204" pitchFamily="18" charset="0"/>
            </a:endParaRPr>
          </a:p>
          <a:p>
            <a:pPr algn="just">
              <a:buClr>
                <a:schemeClr val="tx1">
                  <a:lumMod val="95000"/>
                  <a:lumOff val="5000"/>
                </a:schemeClr>
              </a:buClr>
            </a:pPr>
            <a:r>
              <a:rPr lang="en-US" sz="2000" dirty="0"/>
              <a:t>The framework can be applied to smart cities, healthcare, transportation, and energy sectors. </a:t>
            </a:r>
          </a:p>
          <a:p>
            <a:pPr algn="just">
              <a:buClr>
                <a:schemeClr val="tx1">
                  <a:lumMod val="95000"/>
                  <a:lumOff val="5000"/>
                </a:schemeClr>
              </a:buClr>
            </a:pPr>
            <a:r>
              <a:rPr lang="en-US" sz="2000" dirty="0"/>
              <a:t>Edge and cloud computing integration can reduce delay and improve processing efficiency. </a:t>
            </a:r>
          </a:p>
          <a:p>
            <a:pPr algn="just">
              <a:buClr>
                <a:schemeClr val="tx1">
                  <a:lumMod val="95000"/>
                  <a:lumOff val="5000"/>
                </a:schemeClr>
              </a:buClr>
            </a:pPr>
            <a:r>
              <a:rPr lang="en-US" sz="2000" dirty="0"/>
              <a:t>Blockchain and storage optimization can reduce cost and energy consumption.</a:t>
            </a:r>
          </a:p>
          <a:p>
            <a:pPr algn="just">
              <a:buClr>
                <a:schemeClr val="tx1">
                  <a:lumMod val="95000"/>
                  <a:lumOff val="5000"/>
                </a:schemeClr>
              </a:buClr>
            </a:pPr>
            <a:endParaRPr lang="en-IN" sz="2400" dirty="0">
              <a:latin typeface="Bookman Old Style" panose="02050604050505020204" pitchFamily="18" charset="0"/>
            </a:endParaRPr>
          </a:p>
        </p:txBody>
      </p:sp>
      <p:sp>
        <p:nvSpPr>
          <p:cNvPr id="4" name="Slide Number Placeholder 3"/>
          <p:cNvSpPr>
            <a:spLocks noGrp="1"/>
          </p:cNvSpPr>
          <p:nvPr>
            <p:ph type="sldNum" sz="quarter" idx="12"/>
          </p:nvPr>
        </p:nvSpPr>
        <p:spPr/>
        <p:txBody>
          <a:bodyPr/>
          <a:lstStyle/>
          <a:p>
            <a:fld id="{6979DFC9-49C2-472C-8164-27EAFCE086AB}"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5774"/>
            <a:ext cx="8229600" cy="1143000"/>
          </a:xfrm>
        </p:spPr>
        <p:txBody>
          <a:bodyPr>
            <a:normAutofit/>
          </a:bodyPr>
          <a:lstStyle/>
          <a:p>
            <a:r>
              <a:rPr lang="en-IN" sz="3200" b="1" dirty="0">
                <a:solidFill>
                  <a:schemeClr val="tx1">
                    <a:lumMod val="95000"/>
                    <a:lumOff val="5000"/>
                  </a:schemeClr>
                </a:solidFill>
                <a:latin typeface="Bookman Old Style" panose="02050604050505020204" pitchFamily="18" charset="0"/>
              </a:rPr>
              <a:t>REFERENCES:</a:t>
            </a:r>
          </a:p>
        </p:txBody>
      </p:sp>
      <p:sp>
        <p:nvSpPr>
          <p:cNvPr id="3" name="Content Placeholder 2"/>
          <p:cNvSpPr>
            <a:spLocks noGrp="1"/>
          </p:cNvSpPr>
          <p:nvPr>
            <p:ph idx="1"/>
          </p:nvPr>
        </p:nvSpPr>
        <p:spPr>
          <a:xfrm>
            <a:off x="457200" y="1295400"/>
            <a:ext cx="8229600" cy="4832350"/>
          </a:xfrm>
        </p:spPr>
        <p:txBody>
          <a:bodyPr>
            <a:normAutofit/>
          </a:bodyPr>
          <a:lstStyle/>
          <a:p>
            <a:pPr marL="0" indent="0" algn="just">
              <a:lnSpc>
                <a:spcPct val="150000"/>
              </a:lnSpc>
              <a:spcAft>
                <a:spcPts val="10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50000"/>
              </a:lnSpc>
              <a:spcAft>
                <a:spcPts val="1000"/>
              </a:spcAft>
              <a:buClr>
                <a:schemeClr val="tx1">
                  <a:lumMod val="95000"/>
                  <a:lumOff val="5000"/>
                </a:schemeClr>
              </a:buClr>
              <a:buNone/>
            </a:pPr>
            <a:endParaRPr lang="en-IN" sz="3300" dirty="0">
              <a:latin typeface="Bookman Old Style" panose="02050604050505020204" pitchFamily="18" charset="0"/>
            </a:endParaRPr>
          </a:p>
        </p:txBody>
      </p:sp>
      <p:sp>
        <p:nvSpPr>
          <p:cNvPr id="4" name="Slide Number Placeholder 3"/>
          <p:cNvSpPr>
            <a:spLocks noGrp="1"/>
          </p:cNvSpPr>
          <p:nvPr>
            <p:ph type="sldNum" sz="quarter" idx="12"/>
          </p:nvPr>
        </p:nvSpPr>
        <p:spPr/>
        <p:txBody>
          <a:bodyPr/>
          <a:lstStyle/>
          <a:p>
            <a:fld id="{6979DFC9-49C2-472C-8164-27EAFCE086AB}" type="slidenum">
              <a:rPr lang="en-US" smtClean="0"/>
              <a:t>17</a:t>
            </a:fld>
            <a:endParaRPr lang="en-US"/>
          </a:p>
        </p:txBody>
      </p:sp>
      <p:sp>
        <p:nvSpPr>
          <p:cNvPr id="6" name="TextBox 5">
            <a:extLst>
              <a:ext uri="{FF2B5EF4-FFF2-40B4-BE49-F238E27FC236}">
                <a16:creationId xmlns:a16="http://schemas.microsoft.com/office/drawing/2014/main" id="{0BD1767E-F254-7098-5DDF-2AFFDE9EE09B}"/>
              </a:ext>
            </a:extLst>
          </p:cNvPr>
          <p:cNvSpPr txBox="1"/>
          <p:nvPr/>
        </p:nvSpPr>
        <p:spPr>
          <a:xfrm>
            <a:off x="266700" y="1600200"/>
            <a:ext cx="8610600" cy="5492594"/>
          </a:xfrm>
          <a:prstGeom prst="rect">
            <a:avLst/>
          </a:prstGeom>
          <a:noFill/>
        </p:spPr>
        <p:txBody>
          <a:bodyPr wrap="square">
            <a:spAutoFit/>
          </a:bodyPr>
          <a:lstStyle/>
          <a:p>
            <a:pPr marL="342900" indent="-342900">
              <a:buFont typeface="Arial" panose="020B0604020202020204" pitchFamily="34" charset="0"/>
              <a:buChar char="•"/>
            </a:pPr>
            <a:r>
              <a:rPr lang="en-US" sz="2000" dirty="0"/>
              <a:t>R. Iqbal, T. Maniak, F. Doctor, and C. </a:t>
            </a:r>
            <a:r>
              <a:rPr lang="en-US" sz="2000" dirty="0" err="1"/>
              <a:t>Karyotis</a:t>
            </a:r>
            <a:r>
              <a:rPr lang="en-US" sz="2000" dirty="0"/>
              <a:t>, “Fault detection and</a:t>
            </a:r>
            <a:endParaRPr lang="en-IN" sz="2000" dirty="0"/>
          </a:p>
          <a:p>
            <a:r>
              <a:rPr lang="en-US" sz="2000" dirty="0"/>
              <a:t>     isolation in industrial processes using deep learning approaches,” </a:t>
            </a:r>
          </a:p>
          <a:p>
            <a:r>
              <a:rPr lang="en-US" sz="2000" dirty="0">
                <a:effectLst/>
                <a:ea typeface="Calibri" panose="020F0502020204030204" pitchFamily="34" charset="0"/>
                <a:cs typeface="Times New Roman" panose="02020603050405020304" pitchFamily="18" charset="0"/>
              </a:rPr>
              <a:t>     </a:t>
            </a:r>
            <a:r>
              <a:rPr lang="en-US" dirty="0"/>
              <a:t>,” IEEE Transactions on Industrial Informatics, vol. 15, no. 5, pp. 3077–3084,</a:t>
            </a:r>
          </a:p>
          <a:p>
            <a:r>
              <a:rPr lang="en-US" dirty="0"/>
              <a:t>      2019.</a:t>
            </a:r>
            <a:endParaRPr lang="en-IN" sz="2000" dirty="0">
              <a:effectLst/>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r>
              <a:rPr lang="en-US" sz="2000" dirty="0"/>
              <a:t>S. A. Shevchik, G. G. Masinelli, C. Kenel, C. Leinenbach, and K. Wasmer, “Deep learning for in situ and real-time quality monitoring in additive manufacturing using acoustic emission,” IEEE Transactions on Industrial Informatics, 2019.</a:t>
            </a:r>
            <a:endParaRPr lang="en-IN" sz="2000" dirty="0">
              <a:effectLst/>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r>
              <a:rPr lang="en-US" sz="2000" dirty="0"/>
              <a:t>M. S. Hossain, M. Al-Hammadi, and G. Muhammad, “Automatic fruit</a:t>
            </a:r>
            <a:endParaRPr lang="en-IN" sz="2000" dirty="0"/>
          </a:p>
          <a:p>
            <a:r>
              <a:rPr lang="en-US" sz="2000" dirty="0"/>
              <a:t>      classification using deep learning for industrial applications,” IEEE</a:t>
            </a:r>
            <a:endParaRPr lang="en-IN" sz="2000" dirty="0"/>
          </a:p>
          <a:p>
            <a:r>
              <a:rPr lang="en-US" sz="2000" dirty="0"/>
              <a:t>      Transactions on Industrial Informatics, vol. 15, no. 2, pp. 1027–1034,</a:t>
            </a:r>
            <a:endParaRPr lang="en-IN" sz="2000" dirty="0"/>
          </a:p>
          <a:p>
            <a:r>
              <a:rPr lang="en-US" sz="2000" dirty="0"/>
              <a:t>      2018.</a:t>
            </a:r>
            <a:endParaRPr lang="en-IN" sz="2000" dirty="0"/>
          </a:p>
          <a:p>
            <a:pPr marL="342900" indent="-342900">
              <a:buFont typeface="Arial" panose="020B0604020202020204" pitchFamily="34" charset="0"/>
              <a:buChar char="•"/>
            </a:pPr>
            <a:r>
              <a:rPr lang="en-US" sz="2000" dirty="0"/>
              <a:t>R. S. Peres, A. D. Rocha, P. Leitao, and J. Barata, “</a:t>
            </a:r>
            <a:r>
              <a:rPr lang="en-US" sz="2000" dirty="0" err="1"/>
              <a:t>Idarts</a:t>
            </a:r>
            <a:r>
              <a:rPr lang="en-US" sz="2000" dirty="0"/>
              <a:t>–towards</a:t>
            </a:r>
            <a:endParaRPr lang="en-IN" sz="2000" dirty="0"/>
          </a:p>
          <a:p>
            <a:r>
              <a:rPr lang="en-US" sz="2000" dirty="0"/>
              <a:t>      intelligent data analysis and real-time supervision for industry 4.0,”</a:t>
            </a:r>
            <a:endParaRPr lang="en-IN" sz="2000" dirty="0"/>
          </a:p>
          <a:p>
            <a:r>
              <a:rPr lang="en-US" sz="2000" dirty="0"/>
              <a:t>      Computers in Industry, vol. 101, pp. 138–146, 2018.</a:t>
            </a:r>
            <a:endParaRPr lang="en-IN" sz="2000" dirty="0"/>
          </a:p>
          <a:p>
            <a:pPr marL="285750" indent="-285750" algn="just">
              <a:lnSpc>
                <a:spcPct val="115000"/>
              </a:lnSpc>
              <a:spcAft>
                <a:spcPts val="1000"/>
              </a:spcAft>
              <a:buFont typeface="Arial" panose="020B0604020202020204" pitchFamily="34" charset="0"/>
              <a:buChar char="•"/>
            </a:pPr>
            <a:endParaRPr lang="en-IN" sz="2000" dirty="0">
              <a:effectLst/>
              <a:latin typeface="Bookman Old Style" panose="02050604050505020204" pitchFamily="18" charset="0"/>
              <a:ea typeface="Calibri" panose="020F0502020204030204" pitchFamily="34" charset="0"/>
              <a:cs typeface="Times New Roman" panose="02020603050405020304" pitchFamily="18" charset="0"/>
            </a:endParaRPr>
          </a:p>
          <a:p>
            <a:pPr>
              <a:lnSpc>
                <a:spcPct val="115000"/>
              </a:lnSpc>
              <a:spcAft>
                <a:spcPts val="1000"/>
              </a:spcAft>
            </a:pPr>
            <a:r>
              <a:rPr lang="en-US" sz="2000" dirty="0">
                <a:effectLst/>
                <a:latin typeface="Bookman Old Style" panose="02050604050505020204" pitchFamily="18" charset="0"/>
                <a:ea typeface="Times New Roman" panose="02020603050405020304" pitchFamily="18" charset="0"/>
                <a:cs typeface="Times New Roman" panose="02020603050405020304" pitchFamily="18" charset="0"/>
              </a:rPr>
              <a:t>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819400"/>
            <a:ext cx="8305800" cy="1143000"/>
          </a:xfrm>
        </p:spPr>
        <p:txBody>
          <a:bodyPr/>
          <a:lstStyle/>
          <a:p>
            <a:r>
              <a:rPr lang="en-US" dirty="0"/>
              <a:t>                  </a:t>
            </a:r>
            <a:r>
              <a:rPr lang="en-US" b="1" dirty="0">
                <a:latin typeface="Times New Roman" panose="02020603050405020304" pitchFamily="18" charset="0"/>
                <a:cs typeface="Times New Roman" panose="02020603050405020304" pitchFamily="18" charset="0"/>
              </a:rPr>
              <a:t>THANK YOU</a:t>
            </a:r>
            <a:endParaRPr lang="en-IN" b="1"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6979DFC9-49C2-472C-8164-27EAFCE086AB}" type="slidenum">
              <a:rPr lang="en-US" smtClean="0"/>
              <a:t>18</a:t>
            </a:fld>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631</TotalTime>
  <Words>1395</Words>
  <Application>Microsoft Office PowerPoint</Application>
  <PresentationFormat>On-screen Show (4:3)</PresentationFormat>
  <Paragraphs>143</Paragraphs>
  <Slides>18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Bookman Old Style</vt:lpstr>
      <vt:lpstr>Calibri</vt:lpstr>
      <vt:lpstr>Constantia</vt:lpstr>
      <vt:lpstr>Times New Roman</vt:lpstr>
      <vt:lpstr>Wingdings</vt:lpstr>
      <vt:lpstr>Wingdings 2</vt:lpstr>
      <vt:lpstr>Flow</vt:lpstr>
      <vt:lpstr>                                 MALLA REDDY COLLEGE OF ENGINEERING FOR WOMEN   An UGC Autonomous Institution Approved by AICTE New Delhi and Affiliated to JNTU An ISO 9001: 2015 Certified Institution  Accredited by NBA and IIC 4-star Rating        India Rankings 2023-NIRF Innovation  Band 151-300     Maisammaguda, Medchal (Dist), Hyderabad -500100, Telangana.  Tel:  9346118802     Email : rg.mrcew@gmail.com,    www.mrcew.ac.in </vt:lpstr>
      <vt:lpstr>CONTENT</vt:lpstr>
      <vt:lpstr>ABSTRACT</vt:lpstr>
      <vt:lpstr>INTRODUCTION</vt:lpstr>
      <vt:lpstr>EXISTING SYSTEM</vt:lpstr>
      <vt:lpstr>PROPOSED METHOD</vt:lpstr>
      <vt:lpstr>ARCHITECTURE DIAGRAM</vt:lpstr>
      <vt:lpstr>REQUIREMENTS:</vt:lpstr>
      <vt:lpstr>PowerPoint Presentation</vt:lpstr>
      <vt:lpstr>OUTPUT RESULTS</vt:lpstr>
      <vt:lpstr>PowerPoint Presentation</vt:lpstr>
      <vt:lpstr>PowerPoint Presentation</vt:lpstr>
      <vt:lpstr>ADVANTAGES:</vt:lpstr>
      <vt:lpstr>APPLICATIONS:</vt:lpstr>
      <vt:lpstr>CONCLUSION:</vt:lpstr>
      <vt:lpstr>FUTURE SCOPE:</vt:lpstr>
      <vt:lpstr>REFERENCES:</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user1</dc:creator>
  <cp:lastModifiedBy>Alekhya Panyala</cp:lastModifiedBy>
  <cp:revision>118</cp:revision>
  <dcterms:created xsi:type="dcterms:W3CDTF">2018-09-29T04:54:00Z</dcterms:created>
  <dcterms:modified xsi:type="dcterms:W3CDTF">2026-02-07T10:07:04Z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03921BF9F573485DAE928837B6A74B08_12</vt:lpwstr>
  </property>
  <property fmtid="{D5CDD505-2E9C-101B-9397-08002B2CF9AE}" pid="3" name="KSOProductBuildVer">
    <vt:lpwstr>1033-12.2.0.16909</vt:lpwstr>
  </property>
</Properties>
</file>